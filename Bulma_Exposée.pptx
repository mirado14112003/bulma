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3" r:id="rId9"/>
    <p:sldId id="261" r:id="rId10"/>
    <p:sldId id="266" r:id="rId11"/>
    <p:sldId id="262" r:id="rId12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2" d="100"/>
          <a:sy n="62" d="100"/>
        </p:scale>
        <p:origin x="1542" y="54"/>
      </p:cViewPr>
      <p:guideLst>
        <p:guide orient="horz" pos="2160"/>
        <p:guide pos="285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9CED96-068A-4274-8614-CE8858D45159}" type="datetimeFigureOut">
              <a:rPr lang="fr-FR" smtClean="0"/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9DBC96-224C-4F47-B1D0-6020CB55D1D9}" type="slidenum">
              <a:rPr lang="fr-FR" smtClean="0"/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ce réservé de l'image des diapositives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ce réservé du texte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fr-F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74974" y="548640"/>
            <a:ext cx="51940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lang="fr-FR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</a:t>
            </a:r>
            <a:r>
              <a:rPr lang="fr-F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7772400" cy="3046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est un </a:t>
            </a:r>
            <a:r>
              <a:rPr lang="fr-FR" sz="3200" dirty="0" err="1">
                <a:latin typeface="Agency FB" panose="020B0503020202020204" pitchFamily="34" charset="0"/>
              </a:rPr>
              <a:t>framework</a:t>
            </a:r>
            <a:r>
              <a:rPr lang="fr-FR" sz="3200" dirty="0">
                <a:latin typeface="Agency FB" panose="020B0503020202020204" pitchFamily="34" charset="0"/>
              </a:rPr>
              <a:t> CSS moderne, open source et basé sur </a:t>
            </a:r>
            <a:r>
              <a:rPr lang="fr-FR" sz="3200" dirty="0" err="1">
                <a:latin typeface="Agency FB" panose="020B0503020202020204" pitchFamily="34" charset="0"/>
              </a:rPr>
              <a:t>Flexbox</a:t>
            </a:r>
            <a:r>
              <a:rPr lang="fr-FR" sz="3200" dirty="0">
                <a:latin typeface="Agency FB" panose="020B0503020202020204" pitchFamily="34" charset="0"/>
              </a:rPr>
              <a:t>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Créateur</a:t>
            </a:r>
            <a:r>
              <a:rPr lang="fr-FR" sz="3200" dirty="0">
                <a:latin typeface="Agency FB" panose="020B0503020202020204" pitchFamily="34" charset="0"/>
              </a:rPr>
              <a:t> : Jeremy Thomas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Site Officiel</a:t>
            </a:r>
            <a:r>
              <a:rPr lang="fr-FR" sz="3200" dirty="0">
                <a:latin typeface="Agency FB" panose="020B0503020202020204" pitchFamily="34" charset="0"/>
              </a:rPr>
              <a:t> : </a:t>
            </a:r>
            <a:r>
              <a:rPr lang="en-US" altLang="fr-FR" sz="3200" dirty="0">
                <a:latin typeface="Agency FB" panose="020B0503020202020204" pitchFamily="34" charset="0"/>
              </a:rPr>
              <a:t>https://bulma.io/</a:t>
            </a:r>
            <a:endParaRPr lang="en-US" alt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u="sng" dirty="0">
                <a:latin typeface="Agency FB" panose="020B0503020202020204" pitchFamily="34" charset="0"/>
              </a:rPr>
              <a:t>Objectif</a:t>
            </a:r>
            <a:r>
              <a:rPr lang="fr-FR" sz="3200" dirty="0">
                <a:latin typeface="Agency FB" panose="020B0503020202020204" pitchFamily="34" charset="0"/>
              </a:rPr>
              <a:t> : créer rapidement des interfaces responsives.</a:t>
            </a:r>
            <a:endParaRPr lang="fr-FR"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00021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Pourquoi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?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7772400" cy="3046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100% responsive (mobile-first)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Flex déjà intégré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Facile à apprendre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Sans dépendances JS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✅ </a:t>
            </a:r>
            <a:r>
              <a:rPr lang="fr-FR" sz="3200" dirty="0">
                <a:latin typeface="Agency FB" panose="020B0503020202020204" pitchFamily="34" charset="0"/>
              </a:rPr>
              <a:t>Personnalisation via </a:t>
            </a:r>
            <a:r>
              <a:rPr lang="fr-FR" sz="3200" dirty="0" err="1">
                <a:latin typeface="Agency FB" panose="020B0503020202020204" pitchFamily="34" charset="0"/>
              </a:rPr>
              <a:t>Sass</a:t>
            </a:r>
            <a:r>
              <a:rPr lang="fr-FR" sz="3200" dirty="0">
                <a:latin typeface="Agency FB" panose="020B0503020202020204" pitchFamily="34" charset="0"/>
              </a:rPr>
              <a:t> et variables CSS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06100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Installation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rapide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67232" y="1414584"/>
            <a:ext cx="7772400" cy="483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Méthodes</a:t>
            </a:r>
            <a:r>
              <a:rPr sz="3200" dirty="0">
                <a:latin typeface="Agency FB" panose="020B0503020202020204" pitchFamily="34" charset="0"/>
              </a:rPr>
              <a:t>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sz="3200" dirty="0" err="1">
                <a:latin typeface="Agency FB" panose="020B0503020202020204" pitchFamily="34" charset="0"/>
              </a:rPr>
              <a:t>npm</a:t>
            </a:r>
            <a:r>
              <a:rPr lang="fr-FR" sz="3200" dirty="0">
                <a:latin typeface="Agency FB" panose="020B0503020202020204" pitchFamily="34" charset="0"/>
              </a:rPr>
              <a:t>(Node Package Manager)</a:t>
            </a:r>
            <a:r>
              <a:rPr sz="3200" dirty="0">
                <a:latin typeface="Agency FB" panose="020B0503020202020204" pitchFamily="34" charset="0"/>
              </a:rPr>
              <a:t> : </a:t>
            </a:r>
            <a:r>
              <a:rPr sz="3200" dirty="0" err="1">
                <a:latin typeface="Agency FB" panose="020B0503020202020204" pitchFamily="34" charset="0"/>
              </a:rPr>
              <a:t>npm</a:t>
            </a:r>
            <a:r>
              <a:rPr sz="3200" dirty="0">
                <a:latin typeface="Agency FB" panose="020B0503020202020204" pitchFamily="34" charset="0"/>
              </a:rPr>
              <a:t> install </a:t>
            </a: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[cmd]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CDN : lien direct </a:t>
            </a:r>
            <a:r>
              <a:rPr lang="fr-FR" sz="3200" dirty="0">
                <a:latin typeface="Agency FB" panose="020B0503020202020204" pitchFamily="34" charset="0"/>
              </a:rPr>
              <a:t>(Connexion) :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en-US" sz="2000" b="0" dirty="0">
                <a:solidFill>
                  <a:srgbClr val="808080"/>
                </a:solidFill>
                <a:effectLst/>
                <a:latin typeface="Agency FB" panose="020B0503020202020204" pitchFamily="34" charset="0"/>
              </a:rPr>
              <a:t>&lt;</a:t>
            </a:r>
            <a:r>
              <a:rPr lang="en-US" sz="2000" b="0" dirty="0">
                <a:solidFill>
                  <a:srgbClr val="569CD6"/>
                </a:solidFill>
                <a:effectLst/>
                <a:latin typeface="Agency FB" panose="020B0503020202020204" pitchFamily="34" charset="0"/>
              </a:rPr>
              <a:t>link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Agency FB" panose="020B0503020202020204" pitchFamily="34" charset="0"/>
              </a:rPr>
              <a:t>rel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"stylesheet"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Agency FB" panose="020B0503020202020204" pitchFamily="34" charset="0"/>
              </a:rPr>
              <a:t>href</a:t>
            </a:r>
            <a:r>
              <a:rPr lang="en-US" sz="2000" b="0" dirty="0">
                <a:solidFill>
                  <a:srgbClr val="CCCCCC"/>
                </a:solidFill>
                <a:effectLst/>
                <a:latin typeface="Agency FB" panose="020B0503020202020204" pitchFamily="34" charset="0"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"https://cdn.jsdelivr.net/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npm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/bulma@0.9.4/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css</a:t>
            </a:r>
            <a:r>
              <a:rPr lang="en-US" sz="2000" b="0" dirty="0">
                <a:solidFill>
                  <a:srgbClr val="CE9178"/>
                </a:solidFill>
                <a:effectLst/>
                <a:latin typeface="Agency FB" panose="020B0503020202020204" pitchFamily="34" charset="0"/>
              </a:rPr>
              <a:t>/bulma.min.css"</a:t>
            </a:r>
            <a:r>
              <a:rPr lang="en-US" sz="2000" b="0" dirty="0">
                <a:solidFill>
                  <a:srgbClr val="808080"/>
                </a:solidFill>
                <a:effectLst/>
                <a:latin typeface="Agency FB" panose="020B0503020202020204" pitchFamily="34" charset="0"/>
              </a:rPr>
              <a:t>&gt;</a:t>
            </a:r>
            <a:endParaRPr lang="en-US" sz="2000" b="0" dirty="0">
              <a:solidFill>
                <a:srgbClr val="CCCCCC"/>
              </a:solidFill>
              <a:effectLst/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sz="3200" dirty="0" err="1">
                <a:latin typeface="Agency FB" panose="020B0503020202020204" pitchFamily="34" charset="0"/>
              </a:rPr>
              <a:t>Téléchargement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depuis</a:t>
            </a:r>
            <a:r>
              <a:rPr sz="3200" dirty="0">
                <a:latin typeface="Agency FB" panose="020B0503020202020204" pitchFamily="34" charset="0"/>
              </a:rPr>
              <a:t> bulma.io</a:t>
            </a:r>
            <a:r>
              <a:rPr lang="fr-FR" sz="3200" dirty="0">
                <a:latin typeface="Agency FB" panose="020B0503020202020204" pitchFamily="34" charset="0"/>
              </a:rPr>
              <a:t> : 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en-US" altLang="fr-FR" sz="2400" dirty="0">
                <a:latin typeface="Agency FB" panose="020B0503020202020204" pitchFamily="34" charset="0"/>
              </a:rPr>
              <a:t>&lt;</a:t>
            </a:r>
            <a:r>
              <a:rPr lang="en-US" altLang="fr-FR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link</a:t>
            </a:r>
            <a:r>
              <a:rPr lang="en-US" altLang="fr-FR" sz="2400" dirty="0">
                <a:latin typeface="Agency FB" panose="020B0503020202020204" pitchFamily="34" charset="0"/>
              </a:rPr>
              <a:t> </a:t>
            </a:r>
            <a:r>
              <a:rPr lang="en-US" altLang="fr-FR" sz="2400" dirty="0">
                <a:solidFill>
                  <a:schemeClr val="tx2">
                    <a:lumMod val="40000"/>
                    <a:lumOff val="60000"/>
                  </a:schemeClr>
                </a:solidFill>
                <a:latin typeface="Agency FB" panose="020B0503020202020204" pitchFamily="34" charset="0"/>
              </a:rPr>
              <a:t>rel</a:t>
            </a:r>
            <a:r>
              <a:rPr lang="en-US" altLang="fr-FR" sz="2400" dirty="0">
                <a:latin typeface="Agency FB" panose="020B0503020202020204" pitchFamily="34" charset="0"/>
              </a:rPr>
              <a:t>=</a:t>
            </a:r>
            <a:r>
              <a:rPr lang="en-US" altLang="fr-FR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"stylesheet"</a:t>
            </a:r>
            <a:r>
              <a:rPr lang="en-US" altLang="fr-FR" sz="2400" dirty="0">
                <a:latin typeface="Agency FB" panose="020B0503020202020204" pitchFamily="34" charset="0"/>
              </a:rPr>
              <a:t> </a:t>
            </a:r>
            <a:r>
              <a:rPr lang="en-US" alt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Agency FB" panose="020B0503020202020204" pitchFamily="34" charset="0"/>
              </a:rPr>
              <a:t>href</a:t>
            </a:r>
            <a:r>
              <a:rPr lang="en-US" altLang="fr-FR" sz="2400" dirty="0">
                <a:latin typeface="Agency FB" panose="020B0503020202020204" pitchFamily="34" charset="0"/>
              </a:rPr>
              <a:t>=</a:t>
            </a:r>
            <a:r>
              <a:rPr lang="en-US" altLang="fr-FR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gency FB" panose="020B0503020202020204" pitchFamily="34" charset="0"/>
              </a:rPr>
              <a:t>"bulma/css/bulma.min.css"</a:t>
            </a:r>
            <a:r>
              <a:rPr lang="en-US" altLang="fr-FR" sz="2400" dirty="0">
                <a:latin typeface="Agency FB" panose="020B0503020202020204" pitchFamily="34" charset="0"/>
              </a:rPr>
              <a:t>&gt;</a:t>
            </a:r>
            <a:endParaRPr lang="en-US" alt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Facile à </a:t>
            </a:r>
            <a:r>
              <a:rPr sz="3200" dirty="0" err="1">
                <a:latin typeface="Agency FB" panose="020B0503020202020204" pitchFamily="34" charset="0"/>
              </a:rPr>
              <a:t>intégrer</a:t>
            </a:r>
            <a:r>
              <a:rPr sz="3200" dirty="0">
                <a:latin typeface="Agency FB" panose="020B0503020202020204" pitchFamily="34" charset="0"/>
              </a:rPr>
              <a:t> dans tout </a:t>
            </a:r>
            <a:r>
              <a:rPr sz="3200" dirty="0" err="1">
                <a:latin typeface="Agency FB" panose="020B0503020202020204" pitchFamily="34" charset="0"/>
              </a:rPr>
              <a:t>projet</a:t>
            </a:r>
            <a:r>
              <a:rPr sz="3200" dirty="0">
                <a:latin typeface="Agency FB" panose="020B0503020202020204" pitchFamily="34" charset="0"/>
              </a:rPr>
              <a:t> web.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5498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42099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Navbar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9637"/>
            <a:ext cx="77724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800" dirty="0"/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La </a:t>
            </a:r>
            <a:r>
              <a:rPr lang="fr-FR" sz="3200" dirty="0" err="1">
                <a:latin typeface="Agency FB" panose="020B0503020202020204" pitchFamily="34" charset="0"/>
              </a:rPr>
              <a:t>navbar</a:t>
            </a:r>
            <a:r>
              <a:rPr lang="fr-FR" sz="3200" dirty="0">
                <a:latin typeface="Agency FB" panose="020B0503020202020204" pitchFamily="34" charset="0"/>
              </a:rPr>
              <a:t> de </a:t>
            </a:r>
            <a:r>
              <a:rPr lang="fr-FR" sz="3200" dirty="0" err="1">
                <a:latin typeface="Agency FB" panose="020B0503020202020204" pitchFamily="34" charset="0"/>
              </a:rPr>
              <a:t>Bulma</a:t>
            </a:r>
            <a:r>
              <a:rPr lang="fr-FR" sz="3200" dirty="0">
                <a:latin typeface="Agency FB" panose="020B0503020202020204" pitchFamily="34" charset="0"/>
              </a:rPr>
              <a:t> est responsive par défaut.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Elle s’adapte aux écrans mobiles avec un menu burger.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Structure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 </a:t>
            </a:r>
            <a:r>
              <a:rPr lang="fr-FR" sz="3200" dirty="0">
                <a:latin typeface="Agency FB" panose="020B0503020202020204" pitchFamily="34" charset="0"/>
              </a:rPr>
              <a:t>            </a:t>
            </a:r>
            <a:r>
              <a:rPr sz="3200" dirty="0">
                <a:latin typeface="Agency FB" panose="020B0503020202020204" pitchFamily="34" charset="0"/>
              </a:rPr>
              <a:t>-&gt;</a:t>
            </a:r>
            <a:r>
              <a:rPr lang="fr-FR" sz="3200" dirty="0">
                <a:latin typeface="Agency FB" panose="020B0503020202020204" pitchFamily="34" charset="0"/>
              </a:rPr>
              <a:t> C</a:t>
            </a:r>
            <a:r>
              <a:rPr sz="3200" dirty="0" err="1">
                <a:latin typeface="Agency FB" panose="020B0503020202020204" pitchFamily="34" charset="0"/>
              </a:rPr>
              <a:t>onteneur</a:t>
            </a:r>
            <a:r>
              <a:rPr sz="3200" dirty="0">
                <a:latin typeface="Agency FB" panose="020B0503020202020204" pitchFamily="34" charset="0"/>
              </a:rPr>
              <a:t> principal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.navbar-brand -&gt; </a:t>
            </a:r>
            <a:r>
              <a:rPr lang="fr-FR" sz="3200" dirty="0">
                <a:latin typeface="Agency FB" panose="020B0503020202020204" pitchFamily="34" charset="0"/>
              </a:rPr>
              <a:t>L</a:t>
            </a:r>
            <a:r>
              <a:rPr sz="3200" dirty="0">
                <a:latin typeface="Agency FB" panose="020B0503020202020204" pitchFamily="34" charset="0"/>
              </a:rPr>
              <a:t>ogo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.navbar-menu -&gt; </a:t>
            </a:r>
            <a:r>
              <a:rPr lang="fr-FR" sz="3200" dirty="0">
                <a:latin typeface="Agency FB" panose="020B0503020202020204" pitchFamily="34" charset="0"/>
              </a:rPr>
              <a:t>L</a:t>
            </a:r>
            <a:r>
              <a:rPr sz="3200" dirty="0" err="1">
                <a:latin typeface="Agency FB" panose="020B0503020202020204" pitchFamily="34" charset="0"/>
              </a:rPr>
              <a:t>iens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Comportement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géré</a:t>
            </a:r>
            <a:r>
              <a:rPr sz="3200" dirty="0">
                <a:latin typeface="Agency FB" panose="020B0503020202020204" pitchFamily="34" charset="0"/>
              </a:rPr>
              <a:t> via JS </a:t>
            </a:r>
            <a:r>
              <a:rPr sz="3200" dirty="0" err="1">
                <a:latin typeface="Agency FB" panose="020B0503020202020204" pitchFamily="34" charset="0"/>
              </a:rPr>
              <a:t>personnalisé</a:t>
            </a:r>
            <a:r>
              <a:rPr sz="3200" dirty="0">
                <a:latin typeface="Agency FB" panose="020B0503020202020204" pitchFamily="34" charset="0"/>
              </a:rPr>
              <a:t>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01688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t>Exemple Navbar</a:t>
            </a:r>
            <a:r>
              <a:rPr lang="fr-FR"/>
              <a:t> 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640080" y="1336040"/>
            <a:ext cx="7597140" cy="53936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noAutofit/>
          </a:bodyPr>
          <a:lstStyle/>
          <a:p>
            <a:endParaRPr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&lt;</a:t>
            </a:r>
            <a:r>
              <a:rPr lang="fr-FR" dirty="0" err="1"/>
              <a:t>nav</a:t>
            </a:r>
            <a:r>
              <a:rPr lang="fr-FR" dirty="0"/>
              <a:t> class="</a:t>
            </a:r>
            <a:r>
              <a:rPr lang="fr-FR" dirty="0" err="1"/>
              <a:t>navbar</a:t>
            </a:r>
            <a:r>
              <a:rPr lang="fr-FR" dirty="0"/>
              <a:t>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&lt;div class="</a:t>
            </a:r>
            <a:r>
              <a:rPr lang="fr-FR" dirty="0" err="1"/>
              <a:t>navbar</a:t>
            </a:r>
            <a:r>
              <a:rPr lang="fr-FR" dirty="0"/>
              <a:t>-brand"&gt;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&lt;a class="</a:t>
            </a:r>
            <a:r>
              <a:rPr lang="fr-FR" dirty="0" err="1"/>
              <a:t>navbar</a:t>
            </a:r>
            <a:r>
              <a:rPr lang="fr-FR" dirty="0"/>
              <a:t>-item"&gt;Logo&lt;/a&gt;</a:t>
            </a:r>
            <a:endParaRPr 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</a:t>
            </a:r>
            <a:r>
              <a:rPr lang="fr-FR" altLang="en-US" dirty="0"/>
              <a:t>!-- MENU BURGER --</a:t>
            </a:r>
            <a:r>
              <a:rPr lang="en-US" dirty="0"/>
              <a:t>&gt;</a:t>
            </a:r>
            <a:endParaRPr 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&lt;a class="navbar-burger is-hidden-desktop" role="button" aria-label="menu" aria-expanded="false" data-target="mainNavbar"&gt;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 &lt;span aria-hidden="true"&gt;&lt;/span&gt;</a:t>
            </a:r>
            <a:endParaRPr lang="en-US" altLang="fr-FR" dirty="0"/>
          </a:p>
          <a:p>
            <a:pPr indent="457200"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altLang="fr-FR" dirty="0"/>
              <a:t>&lt;/a&gt;</a:t>
            </a:r>
            <a:endParaRPr lang="en-US" alt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&lt;div class="</a:t>
            </a:r>
            <a:r>
              <a:rPr lang="fr-FR" dirty="0" err="1"/>
              <a:t>navbar</a:t>
            </a:r>
            <a:r>
              <a:rPr lang="fr-FR" dirty="0"/>
              <a:t>-menu"&gt;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&lt;div class="</a:t>
            </a:r>
            <a:r>
              <a:rPr lang="fr-FR" dirty="0" err="1"/>
              <a:t>navbar</a:t>
            </a:r>
            <a:r>
              <a:rPr lang="fr-FR" dirty="0"/>
              <a:t>-start"&gt;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 &lt;a class="</a:t>
            </a:r>
            <a:r>
              <a:rPr lang="fr-FR" dirty="0" err="1"/>
              <a:t>navbar</a:t>
            </a:r>
            <a:r>
              <a:rPr lang="fr-FR" dirty="0"/>
              <a:t>-item"&gt;Accueil&lt;/a&gt;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 &lt;a class="</a:t>
            </a:r>
            <a:r>
              <a:rPr lang="fr-FR" dirty="0" err="1"/>
              <a:t>navbar</a:t>
            </a:r>
            <a:r>
              <a:rPr lang="fr-FR" dirty="0"/>
              <a:t>-item"&gt;Contact&lt;/a&gt;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&lt;/div&gt;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&lt;/</a:t>
            </a:r>
            <a:r>
              <a:rPr lang="fr-FR" dirty="0" err="1"/>
              <a:t>nav</a:t>
            </a:r>
            <a:r>
              <a:rPr lang="fr-FR" dirty="0"/>
              <a:t>&gt;</a:t>
            </a: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114576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Script JS - Navbar Burger</a:t>
            </a:r>
            <a:endParaRPr lang="fr-F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110869"/>
            <a:ext cx="7772400" cy="36009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fr-FR" sz="3200" dirty="0">
                <a:latin typeface="Agency FB" panose="020B0503020202020204" pitchFamily="34" charset="0"/>
              </a:rPr>
              <a:t>Script pour activer le menu burger mobile :</a:t>
            </a:r>
            <a:endParaRPr lang="fr-FR" sz="3200" dirty="0">
              <a:latin typeface="Agency FB" panose="020B0503020202020204" pitchFamily="34" charset="0"/>
            </a:endParaRPr>
          </a:p>
          <a:p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 err="1"/>
              <a:t>document.addEventListener</a:t>
            </a:r>
            <a:r>
              <a:rPr lang="fr-FR" dirty="0"/>
              <a:t>('</a:t>
            </a:r>
            <a:r>
              <a:rPr lang="fr-FR" dirty="0" err="1"/>
              <a:t>DOMContentLoaded</a:t>
            </a:r>
            <a:r>
              <a:rPr lang="fr-FR" dirty="0"/>
              <a:t>', ()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</a:t>
            </a:r>
            <a:r>
              <a:rPr lang="fr-FR" dirty="0" err="1"/>
              <a:t>const</a:t>
            </a:r>
            <a:r>
              <a:rPr lang="fr-FR" dirty="0"/>
              <a:t> burgers = </a:t>
            </a:r>
            <a:r>
              <a:rPr lang="fr-FR" dirty="0" err="1"/>
              <a:t>document.querySelectorAll</a:t>
            </a:r>
            <a:r>
              <a:rPr lang="fr-FR" dirty="0"/>
              <a:t>('.</a:t>
            </a:r>
            <a:r>
              <a:rPr lang="fr-FR" dirty="0" err="1"/>
              <a:t>navbar</a:t>
            </a:r>
            <a:r>
              <a:rPr lang="fr-FR" dirty="0"/>
              <a:t>-burger');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</a:t>
            </a:r>
            <a:r>
              <a:rPr lang="fr-FR" dirty="0" err="1"/>
              <a:t>burgers.forEach</a:t>
            </a:r>
            <a:r>
              <a:rPr lang="fr-FR" dirty="0"/>
              <a:t>(el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</a:t>
            </a:r>
            <a:r>
              <a:rPr lang="fr-FR" dirty="0" err="1"/>
              <a:t>el.addEventListener</a:t>
            </a:r>
            <a:r>
              <a:rPr lang="fr-FR" dirty="0"/>
              <a:t>('click', () =&gt; {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</a:t>
            </a:r>
            <a:r>
              <a:rPr lang="fr-FR" dirty="0" err="1"/>
              <a:t>el.classList.toggle</a:t>
            </a:r>
            <a:r>
              <a:rPr lang="fr-FR" dirty="0"/>
              <a:t>('</a:t>
            </a:r>
            <a:r>
              <a:rPr lang="fr-FR" dirty="0" err="1"/>
              <a:t>is</a:t>
            </a:r>
            <a:r>
              <a:rPr lang="fr-FR" dirty="0"/>
              <a:t>-active');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</a:t>
            </a:r>
            <a:r>
              <a:rPr lang="fr-FR" dirty="0" err="1"/>
              <a:t>document.getElementById</a:t>
            </a:r>
            <a:r>
              <a:rPr lang="fr-FR" dirty="0"/>
              <a:t>('</a:t>
            </a:r>
            <a:r>
              <a:rPr lang="fr-FR" dirty="0" err="1"/>
              <a:t>navbarMenu</a:t>
            </a:r>
            <a:r>
              <a:rPr lang="fr-FR" dirty="0"/>
              <a:t>')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   .</a:t>
            </a:r>
            <a:r>
              <a:rPr lang="fr-FR" dirty="0" err="1"/>
              <a:t>classList.toggle</a:t>
            </a:r>
            <a:r>
              <a:rPr lang="fr-FR" dirty="0"/>
              <a:t>('</a:t>
            </a:r>
            <a:r>
              <a:rPr lang="fr-FR" dirty="0" err="1"/>
              <a:t>is</a:t>
            </a:r>
            <a:r>
              <a:rPr lang="fr-FR" dirty="0"/>
              <a:t>-active');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 });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 });</a:t>
            </a:r>
            <a:endParaRPr lang="fr-FR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fr-FR" dirty="0"/>
              <a:t>});</a:t>
            </a: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55793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Flexbox dans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7772400" cy="5231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est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entièrement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basé</a:t>
            </a:r>
            <a:r>
              <a:rPr sz="3200" dirty="0">
                <a:latin typeface="Agency FB" panose="020B0503020202020204" pitchFamily="34" charset="0"/>
              </a:rPr>
              <a:t> sur Flexbox.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Organisation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fluide</a:t>
            </a:r>
            <a:r>
              <a:rPr sz="3200" dirty="0">
                <a:latin typeface="Agency FB" panose="020B0503020202020204" pitchFamily="34" charset="0"/>
              </a:rPr>
              <a:t> via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&lt;div class="columns"&gt;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</a:t>
            </a:r>
            <a:r>
              <a:rPr lang="fr-FR" altLang="en-US" sz="2000" dirty="0"/>
              <a:t> is-two-thirds</a:t>
            </a:r>
            <a:r>
              <a:rPr lang="en-US" sz="2000" dirty="0"/>
              <a:t>"&gt;</a:t>
            </a:r>
            <a:r>
              <a:rPr lang="en-US" sz="2000" dirty="0" err="1"/>
              <a:t>Colonne</a:t>
            </a:r>
            <a:r>
              <a:rPr lang="en-US" sz="2000" dirty="0"/>
              <a:t> 1&lt;/div&gt;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</a:t>
            </a:r>
            <a:r>
              <a:rPr lang="fr-FR" altLang="en-US" sz="2000" dirty="0"/>
              <a:t> is-full</a:t>
            </a:r>
            <a:r>
              <a:rPr lang="en-US" sz="2000" dirty="0"/>
              <a:t>"&gt;</a:t>
            </a:r>
            <a:r>
              <a:rPr lang="en-US" sz="2000" dirty="0" err="1"/>
              <a:t>Colonne</a:t>
            </a:r>
            <a:r>
              <a:rPr lang="en-US" sz="2000" dirty="0"/>
              <a:t> 2&lt;/div&gt;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  &lt;div class="column"&gt;</a:t>
            </a:r>
            <a:r>
              <a:rPr lang="en-US" sz="2000" dirty="0" err="1"/>
              <a:t>Colonne</a:t>
            </a:r>
            <a:r>
              <a:rPr lang="en-US" sz="2000" dirty="0"/>
              <a:t> 3&lt;/div&gt;</a:t>
            </a:r>
            <a:endParaRPr lang="en-US" sz="2000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sz="2000" dirty="0"/>
              <a:t>&lt;/div&gt;</a:t>
            </a:r>
            <a:endParaRPr lang="en-US" sz="2000" dirty="0"/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sz="2400"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Alignement facile et responsive.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Avantage</a:t>
            </a:r>
            <a:r>
              <a:rPr sz="3200" dirty="0">
                <a:latin typeface="Agency FB" panose="020B0503020202020204" pitchFamily="34" charset="0"/>
              </a:rPr>
              <a:t> : </a:t>
            </a:r>
            <a:r>
              <a:rPr sz="3200" dirty="0" err="1">
                <a:latin typeface="Agency FB" panose="020B0503020202020204" pitchFamily="34" charset="0"/>
              </a:rPr>
              <a:t>adaptabilité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automatique</a:t>
            </a:r>
            <a:r>
              <a:rPr sz="3200" dirty="0">
                <a:latin typeface="Agency FB" panose="020B0503020202020204" pitchFamily="34" charset="0"/>
              </a:rPr>
              <a:t>.</a:t>
            </a: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9430" y="36830"/>
            <a:ext cx="6403975" cy="8299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fr-FR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ormulaire</a:t>
            </a: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dans 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Bulma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 de texte 4"/>
          <p:cNvSpPr txBox="1"/>
          <p:nvPr/>
        </p:nvSpPr>
        <p:spPr>
          <a:xfrm>
            <a:off x="519430" y="3727450"/>
            <a:ext cx="8105140" cy="301561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noAutofit/>
          </a:bodyPr>
          <a:p>
            <a:r>
              <a:rPr lang="en-US" altLang="fr-FR" sz="1350">
                <a:solidFill>
                  <a:srgbClr val="92D050"/>
                </a:solidFill>
              </a:rPr>
              <a:t>&lt;div class="field"&gt;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&lt;label class="label"&gt;Name&lt;/label&gt;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&lt;input class="input" type="text" placeholder="Text input"&gt;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&lt;div class="field is-grouped"&gt;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&lt;button class="button is-link"&gt;Submit&lt;/button&gt;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&lt;div class="control"&gt;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  &lt;button class="button is-link is-light"&gt;Cancel&lt;/button&gt;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  &lt;/div&gt;</a:t>
            </a:r>
            <a:endParaRPr lang="en-US" altLang="fr-FR" sz="1350">
              <a:solidFill>
                <a:srgbClr val="92D050"/>
              </a:solidFill>
            </a:endParaRPr>
          </a:p>
          <a:p>
            <a:r>
              <a:rPr lang="en-US" altLang="fr-FR" sz="1350">
                <a:solidFill>
                  <a:srgbClr val="92D050"/>
                </a:solidFill>
              </a:rPr>
              <a:t>&lt;/div&gt;</a:t>
            </a:r>
            <a:endParaRPr lang="en-US" altLang="fr-FR" sz="1350">
              <a:solidFill>
                <a:srgbClr val="92D050"/>
              </a:solidFill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519430" y="866775"/>
            <a:ext cx="10006965" cy="159829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C’est un champ où l’utilisateur peut saisir et envoyer des informations</a:t>
            </a:r>
            <a:endParaRPr 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Avantages : 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Rapide et simple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classes CSS pr</a:t>
            </a:r>
            <a:r>
              <a:rPr lang="en-US" altLang="en-US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ê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tes à l’emploi.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Responsive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s’adapte automatiquement aux </a:t>
            </a:r>
            <a:r>
              <a:rPr lang="en-US" altLang="en-US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crans.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Design coh</a:t>
            </a:r>
            <a:r>
              <a:rPr lang="en-US" altLang="en-US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rent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champs, boutons et messages uniformes.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Flexible</a:t>
            </a:r>
            <a:r>
              <a:rPr lang="en-US" alt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compatible avec Flexbox pour alignements faciles.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L</a:t>
            </a:r>
            <a:r>
              <a:rPr lang="en-US" altLang="en-US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é</a:t>
            </a:r>
            <a:r>
              <a:rPr lang="en-US" altLang="fr-FR" sz="2000" u="sng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ger</a:t>
            </a:r>
            <a:r>
              <a:rPr lang="en-US" altLang="fr-FR" sz="2000" b="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 : CSS pur, pas besoin de JavaScript.</a:t>
            </a:r>
            <a:endParaRPr lang="en-US" altLang="fr-FR" sz="2000" b="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endParaRPr lang="en-US" alt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  <a:p>
            <a:pPr algn="l">
              <a:defRPr sz="3200" b="1">
                <a:solidFill>
                  <a:srgbClr val="00B4FF"/>
                </a:solidFill>
              </a:defRPr>
            </a:pP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  <a:cs typeface="Agency FB" panose="020B0503020202020204" pitchFamily="34" charset="0"/>
              </a:rPr>
              <a:t>Exemple : 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  <a:cs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6099"/>
            <a:ext cx="3815596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>
                <a:latin typeface="Times New Roman" panose="02020603050405020304" pitchFamily="18" charset="0"/>
                <a:cs typeface="Times New Roman" panose="02020603050405020304" pitchFamily="18" charset="0"/>
              </a:rPr>
              <a:t>Footer Bulma</a:t>
            </a:r>
            <a:endParaRPr sz="4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76502"/>
            <a:ext cx="77724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Le </a:t>
            </a:r>
            <a:r>
              <a:rPr lang="fr-FR" sz="2000" dirty="0" err="1">
                <a:solidFill>
                  <a:schemeClr val="bg1"/>
                </a:solidFill>
                <a:latin typeface="Agency FB" panose="020B0503020202020204" pitchFamily="34" charset="0"/>
              </a:rPr>
              <a:t>footer</a:t>
            </a: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 est la </a:t>
            </a:r>
            <a:r>
              <a:rPr lang="fr-FR" sz="2000" b="0" dirty="0">
                <a:solidFill>
                  <a:schemeClr val="bg1"/>
                </a:solidFill>
                <a:latin typeface="Agency FB" panose="020B0503020202020204" pitchFamily="34" charset="0"/>
              </a:rPr>
              <a:t>Zone de bas de page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Il affiche les informations importantes :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Mentions légales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Contact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• Copyright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Simple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Responsive</a:t>
            </a:r>
            <a:b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</a:br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✅ Personnalisable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r>
              <a:rPr lang="fr-FR" sz="2000" dirty="0">
                <a:solidFill>
                  <a:schemeClr val="bg1"/>
                </a:solidFill>
                <a:latin typeface="Agency FB" panose="020B0503020202020204" pitchFamily="34" charset="0"/>
              </a:rPr>
              <a:t>Renforce la structure et la crédibilité du site.</a:t>
            </a:r>
            <a:endParaRPr lang="fr-FR" sz="2000" dirty="0">
              <a:solidFill>
                <a:schemeClr val="bg1"/>
              </a:solidFill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lang="fr-FR" dirty="0"/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2400" dirty="0">
                <a:latin typeface="Agency FB" panose="020B0503020202020204" pitchFamily="34" charset="0"/>
              </a:rPr>
              <a:t>Structure simple </a:t>
            </a:r>
            <a:r>
              <a:rPr sz="2400" dirty="0">
                <a:latin typeface="Agency FB" panose="020B0503020202020204" pitchFamily="34" charset="0"/>
              </a:rPr>
              <a:t>:</a:t>
            </a:r>
            <a:endParaRPr sz="2400" dirty="0">
              <a:latin typeface="Agency FB" panose="020B0503020202020204" pitchFamily="34" charset="0"/>
            </a:endParaRPr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&lt;footer class="footer"&gt;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&lt;div class="content has-text-centered"&gt;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  &lt;p&gt;© 2025 - Mon site </a:t>
            </a:r>
            <a:r>
              <a:rPr lang="en-US" dirty="0" err="1"/>
              <a:t>Bulma</a:t>
            </a:r>
            <a:r>
              <a:rPr lang="en-US" dirty="0"/>
              <a:t>&lt;/p&gt;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  &lt;/div&gt;</a:t>
            </a:r>
            <a:endParaRPr lang="en-US" dirty="0"/>
          </a:p>
          <a:p>
            <a:pPr>
              <a:defRPr sz="1600">
                <a:solidFill>
                  <a:srgbClr val="B4FFB4"/>
                </a:solidFill>
                <a:latin typeface="Courier New" panose="02070309020205020404"/>
              </a:defRPr>
            </a:pPr>
            <a:r>
              <a:rPr lang="en-US" dirty="0"/>
              <a:t>&lt;/footer&gt;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6494"/>
            <a:ext cx="9144000" cy="6858000"/>
          </a:xfrm>
          <a:prstGeom prst="rect">
            <a:avLst/>
          </a:prstGeom>
          <a:solidFill>
            <a:srgbClr val="1414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312777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B4FF"/>
                </a:solidFill>
              </a:defRPr>
            </a:pPr>
            <a:r>
              <a:rPr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013733"/>
            <a:ext cx="7772400" cy="353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 err="1">
                <a:latin typeface="Agency FB" panose="020B0503020202020204" pitchFamily="34" charset="0"/>
              </a:rPr>
              <a:t>Bulma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est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une</a:t>
            </a:r>
            <a:r>
              <a:rPr sz="3200" dirty="0">
                <a:latin typeface="Agency FB" panose="020B0503020202020204" pitchFamily="34" charset="0"/>
              </a:rPr>
              <a:t> solution </a:t>
            </a:r>
            <a:r>
              <a:rPr sz="3200" dirty="0" err="1">
                <a:latin typeface="Agency FB" panose="020B0503020202020204" pitchFamily="34" charset="0"/>
              </a:rPr>
              <a:t>idéale</a:t>
            </a:r>
            <a:r>
              <a:rPr sz="3200" dirty="0">
                <a:latin typeface="Agency FB" panose="020B0503020202020204" pitchFamily="34" charset="0"/>
              </a:rPr>
              <a:t> pour :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Les p</a:t>
            </a:r>
            <a:r>
              <a:rPr sz="3200" dirty="0" err="1">
                <a:latin typeface="Agency FB" panose="020B0503020202020204" pitchFamily="34" charset="0"/>
              </a:rPr>
              <a:t>rojets</a:t>
            </a:r>
            <a:r>
              <a:rPr sz="3200" dirty="0">
                <a:latin typeface="Agency FB" panose="020B0503020202020204" pitchFamily="34" charset="0"/>
              </a:rPr>
              <a:t> </a:t>
            </a:r>
            <a:r>
              <a:rPr sz="3200" dirty="0" err="1">
                <a:latin typeface="Agency FB" panose="020B0503020202020204" pitchFamily="34" charset="0"/>
              </a:rPr>
              <a:t>rapides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Les présentations professionnelles</a:t>
            </a:r>
            <a:endParaRPr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sz="3200" dirty="0">
                <a:latin typeface="Agency FB" panose="020B0503020202020204" pitchFamily="34" charset="0"/>
              </a:rPr>
              <a:t>• </a:t>
            </a:r>
            <a:r>
              <a:rPr lang="fr-FR" sz="3200" dirty="0">
                <a:latin typeface="Agency FB" panose="020B0503020202020204" pitchFamily="34" charset="0"/>
              </a:rPr>
              <a:t>Un design moderne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r>
              <a:rPr lang="fr-FR" sz="3200" dirty="0">
                <a:latin typeface="Agency FB" panose="020B0503020202020204" pitchFamily="34" charset="0"/>
              </a:rPr>
              <a:t>• Prototypage</a:t>
            </a:r>
            <a:endParaRPr lang="fr-FR" sz="3200" dirty="0">
              <a:latin typeface="Agency FB" panose="020B0503020202020204" pitchFamily="34" charset="0"/>
            </a:endParaRPr>
          </a:p>
          <a:p>
            <a:pPr>
              <a:defRPr sz="1800">
                <a:solidFill>
                  <a:srgbClr val="DCDCDC"/>
                </a:solidFill>
              </a:defRPr>
            </a:pPr>
            <a:endParaRPr sz="3200" dirty="0">
              <a:latin typeface="Agency FB" panose="020B05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3370</Words>
  <Application>WPS Presentation</Application>
  <PresentationFormat>Affichage à l'écran (4:3)</PresentationFormat>
  <Paragraphs>148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Arial</vt:lpstr>
      <vt:lpstr>Times New Roman</vt:lpstr>
      <vt:lpstr>Agency FB</vt:lpstr>
      <vt:lpstr>Courier New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dc:description>generated using python-pptx</dc:description>
  <cp:lastModifiedBy>Mirado RAZAFIMANDIMBY</cp:lastModifiedBy>
  <cp:revision>12</cp:revision>
  <dcterms:created xsi:type="dcterms:W3CDTF">2013-01-27T09:14:00Z</dcterms:created>
  <dcterms:modified xsi:type="dcterms:W3CDTF">2025-12-01T03:06:18Z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08FCACD4708A4711B5767AB5343C6716_12</vt:lpwstr>
  </property>
  <property fmtid="{D5CDD505-2E9C-101B-9397-08002B2CF9AE}" pid="3" name="KSOProductBuildVer">
    <vt:lpwstr>1036-12.2.0.23155</vt:lpwstr>
  </property>
</Properties>
</file>