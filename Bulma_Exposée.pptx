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3" r:id="rId9"/>
    <p:sldId id="261" r:id="rId10"/>
    <p:sldId id="266" r:id="rId11"/>
    <p:sldId id="262" r:id="rId12"/>
    <p:sldId id="264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 userDrawn="1">
          <p15:clr>
            <a:srgbClr val="A4A3A4"/>
          </p15:clr>
        </p15:guide>
        <p15:guide id="2" pos="28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62" d="100"/>
          <a:sy n="62" d="100"/>
        </p:scale>
        <p:origin x="1542" y="54"/>
      </p:cViewPr>
      <p:guideLst>
        <p:guide orient="horz" pos="2170"/>
        <p:guide pos="285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9CED96-068A-4274-8614-CE8858D45159}" type="datetimeFigureOut">
              <a:rPr lang="fr-FR" smtClean="0"/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9DBC96-224C-4F47-B1D0-6020CB55D1D9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ce réservé de l'image des diapositives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fr-F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4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974974" y="548640"/>
            <a:ext cx="519405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B4FF"/>
                </a:solidFill>
              </a:defRPr>
            </a:pPr>
            <a:r>
              <a:rPr lang="fr-FR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 </a:t>
            </a:r>
            <a:r>
              <a:rPr lang="fr-F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Bulma</a:t>
            </a:r>
            <a:endParaRPr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7772400" cy="3538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rPr lang="fr-FR" sz="3200" dirty="0" err="1">
                <a:latin typeface="Agency FB" panose="020B0503020202020204" pitchFamily="34" charset="0"/>
              </a:rPr>
              <a:t>Bulma</a:t>
            </a:r>
            <a:r>
              <a:rPr lang="fr-FR" sz="3200" dirty="0">
                <a:latin typeface="Agency FB" panose="020B0503020202020204" pitchFamily="34" charset="0"/>
              </a:rPr>
              <a:t> est un </a:t>
            </a:r>
            <a:r>
              <a:rPr lang="fr-FR" sz="3200" dirty="0" err="1">
                <a:latin typeface="Agency FB" panose="020B0503020202020204" pitchFamily="34" charset="0"/>
              </a:rPr>
              <a:t>framework</a:t>
            </a:r>
            <a:r>
              <a:rPr lang="fr-FR" sz="3200" dirty="0">
                <a:latin typeface="Agency FB" panose="020B0503020202020204" pitchFamily="34" charset="0"/>
              </a:rPr>
              <a:t> CSS moderne, open source et basé sur </a:t>
            </a:r>
            <a:r>
              <a:rPr lang="fr-FR" sz="3200" dirty="0" err="1">
                <a:latin typeface="Agency FB" panose="020B0503020202020204" pitchFamily="34" charset="0"/>
              </a:rPr>
              <a:t>Flexbox</a:t>
            </a:r>
            <a:r>
              <a:rPr lang="fr-FR" sz="3200" dirty="0">
                <a:latin typeface="Agency FB" panose="020B0503020202020204" pitchFamily="34" charset="0"/>
              </a:rPr>
              <a:t>.</a:t>
            </a:r>
            <a:endParaRPr lang="fr-FR" sz="3200" dirty="0">
              <a:latin typeface="Agency FB" panose="020B0503020202020204" pitchFamily="34" charset="0"/>
            </a:endParaRPr>
          </a:p>
          <a:p>
            <a:pPr>
              <a:defRPr sz="1600">
                <a:solidFill>
                  <a:srgbClr val="FFFFFF"/>
                </a:solidFill>
              </a:defRPr>
            </a:pPr>
            <a:endParaRPr lang="fr-FR" sz="3200" dirty="0">
              <a:latin typeface="Agency FB" panose="020B0503020202020204" pitchFamily="34" charset="0"/>
            </a:endParaRP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lang="fr-FR" sz="3200" u="sng" dirty="0">
                <a:latin typeface="Agency FB" panose="020B0503020202020204" pitchFamily="34" charset="0"/>
              </a:rPr>
              <a:t>Créateur</a:t>
            </a:r>
            <a:r>
              <a:rPr lang="fr-FR" sz="3200" dirty="0">
                <a:latin typeface="Agency FB" panose="020B0503020202020204" pitchFamily="34" charset="0"/>
              </a:rPr>
              <a:t> : Jeremy Thomas</a:t>
            </a:r>
            <a:endParaRPr lang="fr-FR" sz="3200" dirty="0">
              <a:latin typeface="Agency FB" panose="020B0503020202020204" pitchFamily="34" charset="0"/>
            </a:endParaRP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lang="fr-FR" sz="3200" u="sng" dirty="0">
                <a:latin typeface="Agency FB" panose="020B0503020202020204" pitchFamily="34" charset="0"/>
              </a:rPr>
              <a:t>Site Officiel</a:t>
            </a:r>
            <a:r>
              <a:rPr lang="fr-FR" sz="3200" dirty="0">
                <a:latin typeface="Agency FB" panose="020B0503020202020204" pitchFamily="34" charset="0"/>
              </a:rPr>
              <a:t> : </a:t>
            </a:r>
            <a:r>
              <a:rPr lang="en-US" altLang="fr-FR" sz="3200" dirty="0">
                <a:latin typeface="Agency FB" panose="020B0503020202020204" pitchFamily="34" charset="0"/>
              </a:rPr>
              <a:t>https://bulma.io/</a:t>
            </a:r>
            <a:endParaRPr lang="en-US" altLang="fr-FR" sz="3200" dirty="0">
              <a:latin typeface="Agency FB" panose="020B0503020202020204" pitchFamily="34" charset="0"/>
            </a:endParaRP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lang="fr-FR" sz="3200" u="sng" dirty="0">
                <a:latin typeface="Agency FB" panose="020B0503020202020204" pitchFamily="34" charset="0"/>
              </a:rPr>
              <a:t>Objectif</a:t>
            </a:r>
            <a:r>
              <a:rPr lang="fr-FR" sz="3200" dirty="0">
                <a:latin typeface="Agency FB" panose="020B0503020202020204" pitchFamily="34" charset="0"/>
              </a:rPr>
              <a:t> : créer rapidement des sites responsives sans recours aux commandes basiques de CSS.</a:t>
            </a:r>
            <a:endParaRPr lang="fr-FR" sz="3200" dirty="0">
              <a:latin typeface="Agency FB" panose="020B0503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4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500021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B4FF"/>
                </a:solidFill>
              </a:defRPr>
            </a:pPr>
            <a:r>
              <a:rPr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Pourquoi</a:t>
            </a:r>
            <a:r>
              <a:rPr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Bulma</a:t>
            </a:r>
            <a:r>
              <a:rPr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?</a:t>
            </a:r>
            <a:endParaRPr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7772400" cy="3046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dirty="0">
              <a:latin typeface="Agency FB" panose="020B0503020202020204" pitchFamily="34" charset="0"/>
            </a:endParaRPr>
          </a:p>
          <a:p>
            <a:pPr>
              <a:defRPr sz="1800">
                <a:solidFill>
                  <a:srgbClr val="DCDCDC"/>
                </a:solidFill>
              </a:defRPr>
            </a:pPr>
            <a:r>
              <a:rPr sz="3200" dirty="0">
                <a:latin typeface="Agency FB" panose="020B0503020202020204" pitchFamily="34" charset="0"/>
              </a:rPr>
              <a:t>✅ </a:t>
            </a:r>
            <a:r>
              <a:rPr lang="fr-FR" sz="3200" dirty="0">
                <a:latin typeface="Agency FB" panose="020B0503020202020204" pitchFamily="34" charset="0"/>
              </a:rPr>
              <a:t>100% responsive (mobile-first)</a:t>
            </a:r>
            <a:endParaRPr lang="fr-FR" sz="3200" dirty="0">
              <a:latin typeface="Agency FB" panose="020B0503020202020204" pitchFamily="34" charset="0"/>
            </a:endParaRPr>
          </a:p>
          <a:p>
            <a:pPr>
              <a:defRPr sz="1800">
                <a:solidFill>
                  <a:srgbClr val="DCDCDC"/>
                </a:solidFill>
              </a:defRPr>
            </a:pPr>
            <a:r>
              <a:rPr sz="3200" dirty="0">
                <a:latin typeface="Agency FB" panose="020B0503020202020204" pitchFamily="34" charset="0"/>
              </a:rPr>
              <a:t>✅ </a:t>
            </a:r>
            <a:r>
              <a:rPr lang="fr-FR" sz="3200" dirty="0">
                <a:latin typeface="Agency FB" panose="020B0503020202020204" pitchFamily="34" charset="0"/>
              </a:rPr>
              <a:t>Flex déjà intégré </a:t>
            </a:r>
            <a:endParaRPr lang="fr-FR" sz="3200" dirty="0">
              <a:latin typeface="Agency FB" panose="020B0503020202020204" pitchFamily="34" charset="0"/>
            </a:endParaRPr>
          </a:p>
          <a:p>
            <a:pPr>
              <a:defRPr sz="1800">
                <a:solidFill>
                  <a:srgbClr val="DCDCDC"/>
                </a:solidFill>
              </a:defRPr>
            </a:pPr>
            <a:r>
              <a:rPr sz="3200" dirty="0">
                <a:latin typeface="Agency FB" panose="020B0503020202020204" pitchFamily="34" charset="0"/>
              </a:rPr>
              <a:t>✅ </a:t>
            </a:r>
            <a:r>
              <a:rPr lang="fr-FR" sz="3200" dirty="0">
                <a:latin typeface="Agency FB" panose="020B0503020202020204" pitchFamily="34" charset="0"/>
              </a:rPr>
              <a:t>Facile à apprendre</a:t>
            </a:r>
            <a:endParaRPr sz="3200" dirty="0">
              <a:latin typeface="Agency FB" panose="020B0503020202020204" pitchFamily="34" charset="0"/>
            </a:endParaRPr>
          </a:p>
          <a:p>
            <a:pPr>
              <a:defRPr sz="1800">
                <a:solidFill>
                  <a:srgbClr val="DCDCDC"/>
                </a:solidFill>
              </a:defRPr>
            </a:pPr>
            <a:r>
              <a:rPr sz="3200" dirty="0">
                <a:latin typeface="Agency FB" panose="020B0503020202020204" pitchFamily="34" charset="0"/>
              </a:rPr>
              <a:t>✅ </a:t>
            </a:r>
            <a:r>
              <a:rPr lang="fr-FR" sz="3200" dirty="0">
                <a:latin typeface="Agency FB" panose="020B0503020202020204" pitchFamily="34" charset="0"/>
              </a:rPr>
              <a:t>Sans dépendances JS</a:t>
            </a:r>
            <a:endParaRPr sz="3200" dirty="0">
              <a:latin typeface="Agency FB" panose="020B0503020202020204" pitchFamily="34" charset="0"/>
            </a:endParaRPr>
          </a:p>
          <a:p>
            <a:pPr>
              <a:defRPr sz="1800">
                <a:solidFill>
                  <a:srgbClr val="DCDCDC"/>
                </a:solidFill>
              </a:defRPr>
            </a:pPr>
            <a:r>
              <a:rPr sz="3200" dirty="0">
                <a:latin typeface="Agency FB" panose="020B0503020202020204" pitchFamily="34" charset="0"/>
              </a:rPr>
              <a:t>✅ </a:t>
            </a:r>
            <a:r>
              <a:rPr lang="fr-FR" sz="3200" dirty="0">
                <a:latin typeface="Agency FB" panose="020B0503020202020204" pitchFamily="34" charset="0"/>
              </a:rPr>
              <a:t>Personnalisation via </a:t>
            </a:r>
            <a:r>
              <a:rPr lang="fr-FR" sz="3200" dirty="0" err="1">
                <a:latin typeface="Agency FB" panose="020B0503020202020204" pitchFamily="34" charset="0"/>
              </a:rPr>
              <a:t>Sass</a:t>
            </a:r>
            <a:r>
              <a:rPr lang="fr-FR" sz="3200" dirty="0">
                <a:latin typeface="Agency FB" panose="020B0503020202020204" pitchFamily="34" charset="0"/>
              </a:rPr>
              <a:t> et variables CSS</a:t>
            </a:r>
            <a:endParaRPr sz="3200" dirty="0">
              <a:latin typeface="Agency FB" panose="020B0503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4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506100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B4FF"/>
                </a:solidFill>
              </a:defRPr>
            </a:pPr>
            <a:r>
              <a:rPr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Installation </a:t>
            </a:r>
            <a:r>
              <a:rPr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rapide</a:t>
            </a:r>
            <a:endParaRPr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67232" y="1414584"/>
            <a:ext cx="7772400" cy="4831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400" dirty="0">
              <a:latin typeface="Agency FB" panose="020B0503020202020204" pitchFamily="34" charset="0"/>
            </a:endParaRPr>
          </a:p>
          <a:p>
            <a:pPr>
              <a:defRPr sz="1800">
                <a:solidFill>
                  <a:srgbClr val="DCDCDC"/>
                </a:solidFill>
              </a:defRPr>
            </a:pPr>
            <a:r>
              <a:rPr sz="3200" dirty="0" err="1">
                <a:latin typeface="Agency FB" panose="020B0503020202020204" pitchFamily="34" charset="0"/>
              </a:rPr>
              <a:t>Méthodes</a:t>
            </a:r>
            <a:r>
              <a:rPr sz="3200" dirty="0">
                <a:latin typeface="Agency FB" panose="020B0503020202020204" pitchFamily="34" charset="0"/>
              </a:rPr>
              <a:t> :</a:t>
            </a:r>
            <a:endParaRPr sz="3200" dirty="0">
              <a:latin typeface="Agency FB" panose="020B0503020202020204" pitchFamily="34" charset="0"/>
            </a:endParaRPr>
          </a:p>
          <a:p>
            <a:pPr>
              <a:defRPr sz="1800">
                <a:solidFill>
                  <a:srgbClr val="DCDCDC"/>
                </a:solidFill>
              </a:defRPr>
            </a:pPr>
            <a:r>
              <a:rPr sz="3200" dirty="0">
                <a:latin typeface="Agency FB" panose="020B0503020202020204" pitchFamily="34" charset="0"/>
              </a:rPr>
              <a:t>• </a:t>
            </a:r>
            <a:r>
              <a:rPr sz="3200" dirty="0" err="1">
                <a:latin typeface="Agency FB" panose="020B0503020202020204" pitchFamily="34" charset="0"/>
              </a:rPr>
              <a:t>npm</a:t>
            </a:r>
            <a:r>
              <a:rPr lang="fr-FR" sz="3200" dirty="0">
                <a:latin typeface="Agency FB" panose="020B0503020202020204" pitchFamily="34" charset="0"/>
              </a:rPr>
              <a:t>(Node Package Manager)</a:t>
            </a:r>
            <a:r>
              <a:rPr sz="3200" dirty="0">
                <a:latin typeface="Agency FB" panose="020B0503020202020204" pitchFamily="34" charset="0"/>
              </a:rPr>
              <a:t> : </a:t>
            </a:r>
            <a:r>
              <a:rPr sz="3200" dirty="0" err="1">
                <a:latin typeface="Agency FB" panose="020B0503020202020204" pitchFamily="34" charset="0"/>
              </a:rPr>
              <a:t>npm</a:t>
            </a:r>
            <a:r>
              <a:rPr sz="3200" dirty="0">
                <a:latin typeface="Agency FB" panose="020B0503020202020204" pitchFamily="34" charset="0"/>
              </a:rPr>
              <a:t> install </a:t>
            </a:r>
            <a:r>
              <a:rPr sz="3200" dirty="0" err="1">
                <a:latin typeface="Agency FB" panose="020B0503020202020204" pitchFamily="34" charset="0"/>
              </a:rPr>
              <a:t>bulma</a:t>
            </a:r>
            <a:r>
              <a:rPr lang="fr-FR" sz="3200" dirty="0">
                <a:latin typeface="Agency FB" panose="020B0503020202020204" pitchFamily="34" charset="0"/>
              </a:rPr>
              <a:t> [cmd]</a:t>
            </a:r>
            <a:endParaRPr sz="3200" dirty="0">
              <a:latin typeface="Agency FB" panose="020B0503020202020204" pitchFamily="34" charset="0"/>
            </a:endParaRPr>
          </a:p>
          <a:p>
            <a:pPr>
              <a:defRPr sz="1800">
                <a:solidFill>
                  <a:srgbClr val="DCDCDC"/>
                </a:solidFill>
              </a:defRPr>
            </a:pPr>
            <a:endParaRPr lang="fr-FR" sz="2400" dirty="0">
              <a:latin typeface="Agency FB" panose="020B0503020202020204" pitchFamily="34" charset="0"/>
            </a:endParaRPr>
          </a:p>
          <a:p>
            <a:pPr>
              <a:defRPr sz="1800">
                <a:solidFill>
                  <a:srgbClr val="DCDCDC"/>
                </a:solidFill>
              </a:defRPr>
            </a:pPr>
            <a:r>
              <a:rPr sz="3200" dirty="0">
                <a:latin typeface="Agency FB" panose="020B0503020202020204" pitchFamily="34" charset="0"/>
              </a:rPr>
              <a:t>• CDN : lien direct </a:t>
            </a:r>
            <a:r>
              <a:rPr lang="fr-FR" sz="3200" dirty="0">
                <a:latin typeface="Agency FB" panose="020B0503020202020204" pitchFamily="34" charset="0"/>
              </a:rPr>
              <a:t>(Connexion) : </a:t>
            </a:r>
            <a:endParaRPr lang="fr-FR" sz="3200" dirty="0">
              <a:latin typeface="Agency FB" panose="020B0503020202020204" pitchFamily="34" charset="0"/>
            </a:endParaRPr>
          </a:p>
          <a:p>
            <a:pPr>
              <a:defRPr sz="1800">
                <a:solidFill>
                  <a:srgbClr val="DCDCDC"/>
                </a:solidFill>
              </a:defRPr>
            </a:pPr>
            <a:r>
              <a:rPr lang="en-US" sz="2000" b="0" dirty="0">
                <a:solidFill>
                  <a:srgbClr val="808080"/>
                </a:solidFill>
                <a:effectLst/>
                <a:latin typeface="Agency FB" panose="020B0503020202020204" pitchFamily="34" charset="0"/>
              </a:rPr>
              <a:t>&lt;</a:t>
            </a:r>
            <a:r>
              <a:rPr lang="en-US" sz="2000" b="0" dirty="0">
                <a:solidFill>
                  <a:srgbClr val="569CD6"/>
                </a:solidFill>
                <a:effectLst/>
                <a:latin typeface="Agency FB" panose="020B0503020202020204" pitchFamily="34" charset="0"/>
              </a:rPr>
              <a:t>link</a:t>
            </a:r>
            <a:r>
              <a:rPr lang="en-US" sz="2000" b="0" dirty="0">
                <a:solidFill>
                  <a:srgbClr val="CCCCCC"/>
                </a:solidFill>
                <a:effectLst/>
                <a:latin typeface="Agency FB" panose="020B0503020202020204" pitchFamily="34" charset="0"/>
              </a:rPr>
              <a:t> 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Agency FB" panose="020B0503020202020204" pitchFamily="34" charset="0"/>
              </a:rPr>
              <a:t>rel</a:t>
            </a:r>
            <a:r>
              <a:rPr lang="en-US" sz="2000" b="0" dirty="0">
                <a:solidFill>
                  <a:srgbClr val="CCCCCC"/>
                </a:solidFill>
                <a:effectLst/>
                <a:latin typeface="Agency FB" panose="020B0503020202020204" pitchFamily="34" charset="0"/>
              </a:rPr>
              <a:t>=</a:t>
            </a:r>
            <a:r>
              <a:rPr lang="en-US" sz="2000" b="0" dirty="0">
                <a:solidFill>
                  <a:srgbClr val="CE9178"/>
                </a:solidFill>
                <a:effectLst/>
                <a:latin typeface="Agency FB" panose="020B0503020202020204" pitchFamily="34" charset="0"/>
              </a:rPr>
              <a:t>"stylesheet"</a:t>
            </a:r>
            <a:r>
              <a:rPr lang="en-US" sz="2000" b="0" dirty="0">
                <a:solidFill>
                  <a:srgbClr val="CCCCCC"/>
                </a:solidFill>
                <a:effectLst/>
                <a:latin typeface="Agency FB" panose="020B0503020202020204" pitchFamily="34" charset="0"/>
              </a:rPr>
              <a:t> 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Agency FB" panose="020B0503020202020204" pitchFamily="34" charset="0"/>
              </a:rPr>
              <a:t>href</a:t>
            </a:r>
            <a:r>
              <a:rPr lang="en-US" sz="2000" b="0" dirty="0">
                <a:solidFill>
                  <a:srgbClr val="CCCCCC"/>
                </a:solidFill>
                <a:effectLst/>
                <a:latin typeface="Agency FB" panose="020B0503020202020204" pitchFamily="34" charset="0"/>
              </a:rPr>
              <a:t>=</a:t>
            </a:r>
            <a:r>
              <a:rPr lang="en-US" sz="2000" b="0" dirty="0">
                <a:solidFill>
                  <a:srgbClr val="CE9178"/>
                </a:solidFill>
                <a:effectLst/>
                <a:latin typeface="Agency FB" panose="020B0503020202020204" pitchFamily="34" charset="0"/>
              </a:rPr>
              <a:t>"https://cdn.jsdelivr.net/</a:t>
            </a:r>
            <a:r>
              <a:rPr lang="en-US" sz="2000" b="0" dirty="0" err="1">
                <a:solidFill>
                  <a:srgbClr val="CE9178"/>
                </a:solidFill>
                <a:effectLst/>
                <a:latin typeface="Agency FB" panose="020B0503020202020204" pitchFamily="34" charset="0"/>
              </a:rPr>
              <a:t>npm</a:t>
            </a:r>
            <a:r>
              <a:rPr lang="en-US" sz="2000" b="0" dirty="0">
                <a:solidFill>
                  <a:srgbClr val="CE9178"/>
                </a:solidFill>
                <a:effectLst/>
                <a:latin typeface="Agency FB" panose="020B0503020202020204" pitchFamily="34" charset="0"/>
              </a:rPr>
              <a:t>/bulma@0.9.4/</a:t>
            </a:r>
            <a:r>
              <a:rPr lang="en-US" sz="2000" b="0" dirty="0" err="1">
                <a:solidFill>
                  <a:srgbClr val="CE9178"/>
                </a:solidFill>
                <a:effectLst/>
                <a:latin typeface="Agency FB" panose="020B0503020202020204" pitchFamily="34" charset="0"/>
              </a:rPr>
              <a:t>css</a:t>
            </a:r>
            <a:r>
              <a:rPr lang="en-US" sz="2000" b="0" dirty="0">
                <a:solidFill>
                  <a:srgbClr val="CE9178"/>
                </a:solidFill>
                <a:effectLst/>
                <a:latin typeface="Agency FB" panose="020B0503020202020204" pitchFamily="34" charset="0"/>
              </a:rPr>
              <a:t>/bulma.min.css"</a:t>
            </a:r>
            <a:r>
              <a:rPr lang="en-US" sz="2000" b="0" dirty="0">
                <a:solidFill>
                  <a:srgbClr val="808080"/>
                </a:solidFill>
                <a:effectLst/>
                <a:latin typeface="Agency FB" panose="020B0503020202020204" pitchFamily="34" charset="0"/>
              </a:rPr>
              <a:t>&gt;</a:t>
            </a:r>
            <a:endParaRPr lang="en-US" sz="2000" b="0" dirty="0">
              <a:solidFill>
                <a:srgbClr val="CCCCCC"/>
              </a:solidFill>
              <a:effectLst/>
              <a:latin typeface="Agency FB" panose="020B0503020202020204" pitchFamily="34" charset="0"/>
            </a:endParaRPr>
          </a:p>
          <a:p>
            <a:pPr>
              <a:defRPr sz="1800">
                <a:solidFill>
                  <a:srgbClr val="DCDCDC"/>
                </a:solidFill>
              </a:defRPr>
            </a:pPr>
            <a:endParaRPr lang="fr-FR" sz="2400" dirty="0">
              <a:latin typeface="Agency FB" panose="020B0503020202020204" pitchFamily="34" charset="0"/>
            </a:endParaRPr>
          </a:p>
          <a:p>
            <a:pPr>
              <a:defRPr sz="1800">
                <a:solidFill>
                  <a:srgbClr val="DCDCDC"/>
                </a:solidFill>
              </a:defRPr>
            </a:pPr>
            <a:r>
              <a:rPr sz="3200" dirty="0">
                <a:latin typeface="Agency FB" panose="020B0503020202020204" pitchFamily="34" charset="0"/>
              </a:rPr>
              <a:t>• </a:t>
            </a:r>
            <a:r>
              <a:rPr sz="3200" dirty="0" err="1">
                <a:latin typeface="Agency FB" panose="020B0503020202020204" pitchFamily="34" charset="0"/>
              </a:rPr>
              <a:t>Téléchargement</a:t>
            </a:r>
            <a:r>
              <a:rPr sz="3200" dirty="0">
                <a:latin typeface="Agency FB" panose="020B0503020202020204" pitchFamily="34" charset="0"/>
              </a:rPr>
              <a:t> </a:t>
            </a:r>
            <a:r>
              <a:rPr sz="3200" dirty="0" err="1">
                <a:latin typeface="Agency FB" panose="020B0503020202020204" pitchFamily="34" charset="0"/>
              </a:rPr>
              <a:t>depuis</a:t>
            </a:r>
            <a:r>
              <a:rPr sz="3200" dirty="0">
                <a:latin typeface="Agency FB" panose="020B0503020202020204" pitchFamily="34" charset="0"/>
              </a:rPr>
              <a:t> bulma.io</a:t>
            </a:r>
            <a:r>
              <a:rPr lang="fr-FR" sz="3200" dirty="0">
                <a:latin typeface="Agency FB" panose="020B0503020202020204" pitchFamily="34" charset="0"/>
              </a:rPr>
              <a:t> : </a:t>
            </a:r>
            <a:endParaRPr lang="fr-FR" sz="3200" dirty="0">
              <a:latin typeface="Agency FB" panose="020B0503020202020204" pitchFamily="34" charset="0"/>
            </a:endParaRPr>
          </a:p>
          <a:p>
            <a:pPr>
              <a:defRPr sz="1800">
                <a:solidFill>
                  <a:srgbClr val="DCDCDC"/>
                </a:solidFill>
              </a:defRPr>
            </a:pPr>
            <a:r>
              <a:rPr lang="en-US" altLang="fr-FR" sz="2400" dirty="0">
                <a:latin typeface="Agency FB" panose="020B0503020202020204" pitchFamily="34" charset="0"/>
              </a:rPr>
              <a:t>&lt;</a:t>
            </a:r>
            <a:r>
              <a:rPr lang="en-US" altLang="fr-FR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Agency FB" panose="020B0503020202020204" pitchFamily="34" charset="0"/>
              </a:rPr>
              <a:t>link</a:t>
            </a:r>
            <a:r>
              <a:rPr lang="en-US" altLang="fr-FR" sz="2400" dirty="0">
                <a:latin typeface="Agency FB" panose="020B0503020202020204" pitchFamily="34" charset="0"/>
              </a:rPr>
              <a:t> </a:t>
            </a:r>
            <a:r>
              <a:rPr lang="en-US" altLang="fr-FR" sz="2400" dirty="0">
                <a:solidFill>
                  <a:schemeClr val="tx2">
                    <a:lumMod val="40000"/>
                    <a:lumOff val="60000"/>
                  </a:schemeClr>
                </a:solidFill>
                <a:latin typeface="Agency FB" panose="020B0503020202020204" pitchFamily="34" charset="0"/>
              </a:rPr>
              <a:t>rel</a:t>
            </a:r>
            <a:r>
              <a:rPr lang="en-US" altLang="fr-FR" sz="2400" dirty="0">
                <a:latin typeface="Agency FB" panose="020B0503020202020204" pitchFamily="34" charset="0"/>
              </a:rPr>
              <a:t>=</a:t>
            </a:r>
            <a:r>
              <a:rPr lang="en-US" altLang="fr-FR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gency FB" panose="020B0503020202020204" pitchFamily="34" charset="0"/>
              </a:rPr>
              <a:t>"stylesheet"</a:t>
            </a:r>
            <a:r>
              <a:rPr lang="en-US" altLang="fr-FR" sz="2400" dirty="0">
                <a:latin typeface="Agency FB" panose="020B0503020202020204" pitchFamily="34" charset="0"/>
              </a:rPr>
              <a:t> </a:t>
            </a:r>
            <a:r>
              <a:rPr lang="en-US" altLang="fr-FR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Agency FB" panose="020B0503020202020204" pitchFamily="34" charset="0"/>
              </a:rPr>
              <a:t>href</a:t>
            </a:r>
            <a:r>
              <a:rPr lang="en-US" altLang="fr-FR" sz="2400" dirty="0">
                <a:latin typeface="Agency FB" panose="020B0503020202020204" pitchFamily="34" charset="0"/>
              </a:rPr>
              <a:t>=</a:t>
            </a:r>
            <a:r>
              <a:rPr lang="en-US" altLang="fr-FR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gency FB" panose="020B0503020202020204" pitchFamily="34" charset="0"/>
              </a:rPr>
              <a:t>"bulma/css/bulma.min.css"</a:t>
            </a:r>
            <a:r>
              <a:rPr lang="en-US" altLang="fr-FR" sz="2400" dirty="0">
                <a:latin typeface="Agency FB" panose="020B0503020202020204" pitchFamily="34" charset="0"/>
              </a:rPr>
              <a:t>&gt;</a:t>
            </a:r>
            <a:endParaRPr lang="en-US" altLang="fr-FR" sz="2400" dirty="0">
              <a:latin typeface="Agency FB" panose="020B0503020202020204" pitchFamily="34" charset="0"/>
            </a:endParaRPr>
          </a:p>
          <a:p>
            <a:pPr>
              <a:defRPr sz="1800">
                <a:solidFill>
                  <a:srgbClr val="DCDCDC"/>
                </a:solidFill>
              </a:defRPr>
            </a:pPr>
            <a:endParaRPr lang="fr-FR" sz="3200" dirty="0">
              <a:latin typeface="Agency FB" panose="020B0503020202020204" pitchFamily="34" charset="0"/>
            </a:endParaRPr>
          </a:p>
          <a:p>
            <a:pPr>
              <a:defRPr sz="1800">
                <a:solidFill>
                  <a:srgbClr val="DCDCDC"/>
                </a:solidFill>
              </a:defRPr>
            </a:pPr>
            <a:r>
              <a:rPr sz="3200" dirty="0">
                <a:latin typeface="Agency FB" panose="020B0503020202020204" pitchFamily="34" charset="0"/>
              </a:rPr>
              <a:t>Facile à </a:t>
            </a:r>
            <a:r>
              <a:rPr sz="3200" dirty="0" err="1">
                <a:latin typeface="Agency FB" panose="020B0503020202020204" pitchFamily="34" charset="0"/>
              </a:rPr>
              <a:t>intégrer</a:t>
            </a:r>
            <a:r>
              <a:rPr sz="3200" dirty="0">
                <a:latin typeface="Agency FB" panose="020B0503020202020204" pitchFamily="34" charset="0"/>
              </a:rPr>
              <a:t> dans tout </a:t>
            </a:r>
            <a:r>
              <a:rPr sz="3200" dirty="0" err="1">
                <a:latin typeface="Agency FB" panose="020B0503020202020204" pitchFamily="34" charset="0"/>
              </a:rPr>
              <a:t>projet</a:t>
            </a:r>
            <a:r>
              <a:rPr sz="3200" dirty="0">
                <a:latin typeface="Agency FB" panose="020B0503020202020204" pitchFamily="34" charset="0"/>
              </a:rPr>
              <a:t> web.</a:t>
            </a:r>
            <a:endParaRPr sz="3200" dirty="0">
              <a:latin typeface="Agency FB" panose="020B0503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5498"/>
            <a:ext cx="9144000" cy="6858000"/>
          </a:xfrm>
          <a:prstGeom prst="rect">
            <a:avLst/>
          </a:prstGeom>
          <a:solidFill>
            <a:srgbClr val="1414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420993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B4FF"/>
                </a:solidFill>
              </a:defRPr>
            </a:pPr>
            <a:r>
              <a:rPr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Navbar </a:t>
            </a:r>
            <a:r>
              <a:rPr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Bulma</a:t>
            </a:r>
            <a:r>
              <a:rPr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379637"/>
            <a:ext cx="7772400" cy="3538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sz="3200" dirty="0">
              <a:latin typeface="Agency FB" panose="020B0503020202020204" pitchFamily="34" charset="0"/>
            </a:endParaRPr>
          </a:p>
          <a:p>
            <a:pPr>
              <a:defRPr sz="1800">
                <a:solidFill>
                  <a:srgbClr val="DCDCDC"/>
                </a:solidFill>
              </a:defRPr>
            </a:pPr>
            <a:r>
              <a:rPr sz="3200" dirty="0">
                <a:latin typeface="Agency FB" panose="020B0503020202020204" pitchFamily="34" charset="0"/>
              </a:rPr>
              <a:t>Structure :</a:t>
            </a:r>
            <a:endParaRPr sz="3200" dirty="0">
              <a:latin typeface="Agency FB" panose="020B0503020202020204" pitchFamily="34" charset="0"/>
            </a:endParaRPr>
          </a:p>
          <a:p>
            <a:pPr>
              <a:defRPr sz="1800">
                <a:solidFill>
                  <a:srgbClr val="DCDCDC"/>
                </a:solidFill>
              </a:defRPr>
            </a:pPr>
            <a:r>
              <a:rPr sz="3200" dirty="0">
                <a:latin typeface="Agency FB" panose="020B0503020202020204" pitchFamily="34" charset="0"/>
              </a:rPr>
              <a:t>.navbar </a:t>
            </a:r>
            <a:r>
              <a:rPr lang="fr-FR" sz="3200" dirty="0">
                <a:latin typeface="Agency FB" panose="020B0503020202020204" pitchFamily="34" charset="0"/>
              </a:rPr>
              <a:t>            </a:t>
            </a:r>
            <a:r>
              <a:rPr sz="3200" dirty="0">
                <a:latin typeface="Agency FB" panose="020B0503020202020204" pitchFamily="34" charset="0"/>
              </a:rPr>
              <a:t>-&gt;</a:t>
            </a:r>
            <a:r>
              <a:rPr lang="fr-FR" sz="3200" dirty="0">
                <a:latin typeface="Agency FB" panose="020B0503020202020204" pitchFamily="34" charset="0"/>
              </a:rPr>
              <a:t> C</a:t>
            </a:r>
            <a:r>
              <a:rPr sz="3200" dirty="0" err="1">
                <a:latin typeface="Agency FB" panose="020B0503020202020204" pitchFamily="34" charset="0"/>
              </a:rPr>
              <a:t>onteneur</a:t>
            </a:r>
            <a:r>
              <a:rPr sz="3200" dirty="0">
                <a:latin typeface="Agency FB" panose="020B0503020202020204" pitchFamily="34" charset="0"/>
              </a:rPr>
              <a:t> principal</a:t>
            </a:r>
            <a:endParaRPr sz="3200" dirty="0">
              <a:latin typeface="Agency FB" panose="020B0503020202020204" pitchFamily="34" charset="0"/>
            </a:endParaRPr>
          </a:p>
          <a:p>
            <a:pPr>
              <a:defRPr sz="1800">
                <a:solidFill>
                  <a:srgbClr val="DCDCDC"/>
                </a:solidFill>
              </a:defRPr>
            </a:pPr>
            <a:r>
              <a:rPr sz="3200" dirty="0">
                <a:latin typeface="Agency FB" panose="020B0503020202020204" pitchFamily="34" charset="0"/>
              </a:rPr>
              <a:t>.navbar-brand -&gt; </a:t>
            </a:r>
            <a:r>
              <a:rPr lang="fr-FR" sz="3200" dirty="0">
                <a:latin typeface="Agency FB" panose="020B0503020202020204" pitchFamily="34" charset="0"/>
              </a:rPr>
              <a:t>L</a:t>
            </a:r>
            <a:r>
              <a:rPr sz="3200" dirty="0">
                <a:latin typeface="Agency FB" panose="020B0503020202020204" pitchFamily="34" charset="0"/>
              </a:rPr>
              <a:t>ogo</a:t>
            </a:r>
            <a:endParaRPr sz="3200" dirty="0">
              <a:latin typeface="Agency FB" panose="020B0503020202020204" pitchFamily="34" charset="0"/>
            </a:endParaRPr>
          </a:p>
          <a:p>
            <a:pPr>
              <a:defRPr sz="1800">
                <a:solidFill>
                  <a:srgbClr val="DCDCDC"/>
                </a:solidFill>
              </a:defRPr>
            </a:pPr>
            <a:r>
              <a:rPr sz="3200" dirty="0">
                <a:latin typeface="Agency FB" panose="020B0503020202020204" pitchFamily="34" charset="0"/>
              </a:rPr>
              <a:t>.navbar-menu -&gt; </a:t>
            </a:r>
            <a:r>
              <a:rPr lang="fr-FR" sz="3200" dirty="0">
                <a:latin typeface="Agency FB" panose="020B0503020202020204" pitchFamily="34" charset="0"/>
              </a:rPr>
              <a:t>L</a:t>
            </a:r>
            <a:r>
              <a:rPr sz="3200" dirty="0" err="1">
                <a:latin typeface="Agency FB" panose="020B0503020202020204" pitchFamily="34" charset="0"/>
              </a:rPr>
              <a:t>iens</a:t>
            </a:r>
            <a:endParaRPr sz="3200" dirty="0">
              <a:latin typeface="Agency FB" panose="020B0503020202020204" pitchFamily="34" charset="0"/>
            </a:endParaRPr>
          </a:p>
          <a:p>
            <a:pPr>
              <a:defRPr sz="1800">
                <a:solidFill>
                  <a:srgbClr val="DCDCDC"/>
                </a:solidFill>
              </a:defRPr>
            </a:pPr>
            <a:endParaRPr lang="fr-FR" sz="3200" dirty="0">
              <a:latin typeface="Agency FB" panose="020B0503020202020204" pitchFamily="34" charset="0"/>
            </a:endParaRPr>
          </a:p>
          <a:p>
            <a:pPr>
              <a:defRPr sz="1800">
                <a:solidFill>
                  <a:srgbClr val="DCDCDC"/>
                </a:solidFill>
              </a:defRPr>
            </a:pPr>
            <a:r>
              <a:rPr sz="3200" dirty="0" err="1">
                <a:latin typeface="Agency FB" panose="020B0503020202020204" pitchFamily="34" charset="0"/>
              </a:rPr>
              <a:t>Comportement</a:t>
            </a:r>
            <a:r>
              <a:rPr sz="3200" dirty="0">
                <a:latin typeface="Agency FB" panose="020B0503020202020204" pitchFamily="34" charset="0"/>
              </a:rPr>
              <a:t> </a:t>
            </a:r>
            <a:r>
              <a:rPr sz="3200" dirty="0" err="1">
                <a:latin typeface="Agency FB" panose="020B0503020202020204" pitchFamily="34" charset="0"/>
              </a:rPr>
              <a:t>géré</a:t>
            </a:r>
            <a:r>
              <a:rPr sz="3200" dirty="0">
                <a:latin typeface="Agency FB" panose="020B0503020202020204" pitchFamily="34" charset="0"/>
              </a:rPr>
              <a:t> via JS </a:t>
            </a:r>
            <a:r>
              <a:rPr sz="3200" dirty="0" err="1">
                <a:latin typeface="Agency FB" panose="020B0503020202020204" pitchFamily="34" charset="0"/>
              </a:rPr>
              <a:t>personnalisé</a:t>
            </a:r>
            <a:r>
              <a:rPr lang="fr-FR" sz="3200" dirty="0" err="1">
                <a:latin typeface="Agency FB" panose="020B0503020202020204" pitchFamily="34" charset="0"/>
              </a:rPr>
              <a:t> (Burger)</a:t>
            </a:r>
            <a:r>
              <a:rPr sz="3200" dirty="0">
                <a:latin typeface="Agency FB" panose="020B0503020202020204" pitchFamily="34" charset="0"/>
              </a:rPr>
              <a:t>.</a:t>
            </a:r>
            <a:endParaRPr sz="3200" dirty="0">
              <a:latin typeface="Agency FB" panose="020B0503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4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3016885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B4FF"/>
                </a:solidFill>
              </a:defRPr>
            </a:pPr>
            <a:r>
              <a:t>Exemple Navbar</a:t>
            </a:r>
            <a:r>
              <a:rPr lang="fr-FR"/>
              <a:t> </a:t>
            </a:r>
            <a:endParaRPr lang="fr-FR"/>
          </a:p>
        </p:txBody>
      </p:sp>
      <p:sp>
        <p:nvSpPr>
          <p:cNvPr id="4" name="TextBox 3"/>
          <p:cNvSpPr txBox="1"/>
          <p:nvPr/>
        </p:nvSpPr>
        <p:spPr>
          <a:xfrm>
            <a:off x="640080" y="1336040"/>
            <a:ext cx="7597140" cy="539369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dirty="0"/>
          </a:p>
          <a:p>
            <a:pPr>
              <a:defRPr sz="1600">
                <a:solidFill>
                  <a:srgbClr val="B4FFB4"/>
                </a:solidFill>
                <a:latin typeface="Courier New" panose="02070309020205020404"/>
              </a:defRPr>
            </a:pPr>
            <a:r>
              <a:rPr lang="fr-FR" dirty="0"/>
              <a:t>&lt;</a:t>
            </a:r>
            <a:r>
              <a:rPr lang="fr-FR" dirty="0" err="1"/>
              <a:t>nav</a:t>
            </a:r>
            <a:r>
              <a:rPr lang="fr-FR" dirty="0"/>
              <a:t> class="</a:t>
            </a:r>
            <a:r>
              <a:rPr lang="fr-FR" dirty="0" err="1"/>
              <a:t>navbar</a:t>
            </a:r>
            <a:r>
              <a:rPr lang="fr-FR" dirty="0"/>
              <a:t>"&gt;</a:t>
            </a:r>
            <a:endParaRPr lang="fr-FR" dirty="0"/>
          </a:p>
          <a:p>
            <a:pPr>
              <a:defRPr sz="1600">
                <a:solidFill>
                  <a:srgbClr val="B4FFB4"/>
                </a:solidFill>
                <a:latin typeface="Courier New" panose="02070309020205020404"/>
              </a:defRPr>
            </a:pPr>
            <a:r>
              <a:rPr lang="fr-FR" dirty="0"/>
              <a:t>  &lt;div class="</a:t>
            </a:r>
            <a:r>
              <a:rPr lang="fr-FR" dirty="0" err="1"/>
              <a:t>navbar</a:t>
            </a:r>
            <a:r>
              <a:rPr lang="fr-FR" dirty="0"/>
              <a:t>-brand"&gt;</a:t>
            </a:r>
            <a:endParaRPr lang="fr-FR" dirty="0"/>
          </a:p>
          <a:p>
            <a:pPr>
              <a:defRPr sz="1600">
                <a:solidFill>
                  <a:srgbClr val="B4FFB4"/>
                </a:solidFill>
                <a:latin typeface="Courier New" panose="02070309020205020404"/>
              </a:defRPr>
            </a:pPr>
            <a:r>
              <a:rPr lang="fr-FR" dirty="0"/>
              <a:t>    &lt;a class="</a:t>
            </a:r>
            <a:r>
              <a:rPr lang="fr-FR" dirty="0" err="1"/>
              <a:t>navbar</a:t>
            </a:r>
            <a:r>
              <a:rPr lang="fr-FR" dirty="0"/>
              <a:t>-item"&gt;Logo&lt;/a&gt;</a:t>
            </a:r>
            <a:endParaRPr lang="fr-FR" dirty="0"/>
          </a:p>
          <a:p>
            <a:pPr indent="457200">
              <a:defRPr sz="1600">
                <a:solidFill>
                  <a:srgbClr val="B4FFB4"/>
                </a:solidFill>
                <a:latin typeface="Courier New" panose="02070309020205020404"/>
              </a:defRPr>
            </a:pPr>
            <a:r>
              <a:rPr lang="en-US" dirty="0"/>
              <a:t>&lt;</a:t>
            </a:r>
            <a:r>
              <a:rPr lang="fr-FR" altLang="en-US" dirty="0"/>
              <a:t>!-- MENU BURGER --</a:t>
            </a:r>
            <a:r>
              <a:rPr lang="en-US" dirty="0"/>
              <a:t>&gt;</a:t>
            </a:r>
            <a:endParaRPr lang="fr-FR" dirty="0"/>
          </a:p>
          <a:p>
            <a:pPr indent="457200">
              <a:defRPr sz="1600">
                <a:solidFill>
                  <a:srgbClr val="B4FFB4"/>
                </a:solidFill>
                <a:latin typeface="Courier New" panose="02070309020205020404"/>
              </a:defRPr>
            </a:pPr>
            <a:r>
              <a:rPr lang="en-US" altLang="fr-FR" dirty="0"/>
              <a:t>&lt;a class="navbar-burger is-hidden-desktop" role="button" aria-label="menu" aria-expanded="false" data-target="mainNavbar"&gt;</a:t>
            </a:r>
            <a:endParaRPr lang="en-US" altLang="fr-FR" dirty="0"/>
          </a:p>
          <a:p>
            <a:pPr indent="457200">
              <a:defRPr sz="1600">
                <a:solidFill>
                  <a:srgbClr val="B4FFB4"/>
                </a:solidFill>
                <a:latin typeface="Courier New" panose="02070309020205020404"/>
              </a:defRPr>
            </a:pPr>
            <a:r>
              <a:rPr lang="en-US" altLang="fr-FR" dirty="0"/>
              <a:t> &lt;span aria-hidden="true"&gt;&lt;/span&gt;</a:t>
            </a:r>
            <a:endParaRPr lang="en-US" altLang="fr-FR" dirty="0"/>
          </a:p>
          <a:p>
            <a:pPr indent="457200">
              <a:defRPr sz="1600">
                <a:solidFill>
                  <a:srgbClr val="B4FFB4"/>
                </a:solidFill>
                <a:latin typeface="Courier New" panose="02070309020205020404"/>
              </a:defRPr>
            </a:pPr>
            <a:r>
              <a:rPr lang="en-US" altLang="fr-FR" dirty="0"/>
              <a:t> &lt;span aria-hidden="true"&gt;&lt;/span&gt;</a:t>
            </a:r>
            <a:endParaRPr lang="en-US" altLang="fr-FR" dirty="0"/>
          </a:p>
          <a:p>
            <a:pPr indent="457200">
              <a:defRPr sz="1600">
                <a:solidFill>
                  <a:srgbClr val="B4FFB4"/>
                </a:solidFill>
                <a:latin typeface="Courier New" panose="02070309020205020404"/>
              </a:defRPr>
            </a:pPr>
            <a:r>
              <a:rPr lang="en-US" altLang="fr-FR" dirty="0"/>
              <a:t> &lt;span aria-hidden="true"&gt;&lt;/span&gt;</a:t>
            </a:r>
            <a:endParaRPr lang="en-US" altLang="fr-FR" dirty="0"/>
          </a:p>
          <a:p>
            <a:pPr indent="457200">
              <a:defRPr sz="1600">
                <a:solidFill>
                  <a:srgbClr val="B4FFB4"/>
                </a:solidFill>
                <a:latin typeface="Courier New" panose="02070309020205020404"/>
              </a:defRPr>
            </a:pPr>
            <a:r>
              <a:rPr lang="en-US" altLang="fr-FR" dirty="0"/>
              <a:t> &lt;span aria-hidden="true"&gt;&lt;/span&gt;</a:t>
            </a:r>
            <a:endParaRPr lang="en-US" altLang="fr-FR" dirty="0"/>
          </a:p>
          <a:p>
            <a:pPr indent="457200">
              <a:defRPr sz="1600">
                <a:solidFill>
                  <a:srgbClr val="B4FFB4"/>
                </a:solidFill>
                <a:latin typeface="Courier New" panose="02070309020205020404"/>
              </a:defRPr>
            </a:pPr>
            <a:r>
              <a:rPr lang="en-US" altLang="fr-FR" dirty="0"/>
              <a:t>&lt;/a&gt;</a:t>
            </a:r>
            <a:endParaRPr lang="en-US" altLang="fr-FR" dirty="0"/>
          </a:p>
          <a:p>
            <a:pPr>
              <a:defRPr sz="1600">
                <a:solidFill>
                  <a:srgbClr val="B4FFB4"/>
                </a:solidFill>
                <a:latin typeface="Courier New" panose="02070309020205020404"/>
              </a:defRPr>
            </a:pPr>
            <a:r>
              <a:rPr lang="fr-FR" dirty="0"/>
              <a:t>  &lt;/div&gt;</a:t>
            </a:r>
            <a:endParaRPr lang="fr-FR" dirty="0"/>
          </a:p>
          <a:p>
            <a:pPr>
              <a:defRPr sz="1600">
                <a:solidFill>
                  <a:srgbClr val="B4FFB4"/>
                </a:solidFill>
                <a:latin typeface="Courier New" panose="02070309020205020404"/>
              </a:defRPr>
            </a:pPr>
            <a:r>
              <a:rPr lang="fr-FR" dirty="0"/>
              <a:t>  &lt;div class="</a:t>
            </a:r>
            <a:r>
              <a:rPr lang="fr-FR" dirty="0" err="1"/>
              <a:t>navbar</a:t>
            </a:r>
            <a:r>
              <a:rPr lang="fr-FR" dirty="0"/>
              <a:t>-menu"&gt;</a:t>
            </a:r>
            <a:endParaRPr lang="fr-FR" dirty="0"/>
          </a:p>
          <a:p>
            <a:pPr>
              <a:defRPr sz="1600">
                <a:solidFill>
                  <a:srgbClr val="B4FFB4"/>
                </a:solidFill>
                <a:latin typeface="Courier New" panose="02070309020205020404"/>
              </a:defRPr>
            </a:pPr>
            <a:r>
              <a:rPr lang="fr-FR" dirty="0"/>
              <a:t>    &lt;div class="</a:t>
            </a:r>
            <a:r>
              <a:rPr lang="fr-FR" dirty="0" err="1"/>
              <a:t>navbar</a:t>
            </a:r>
            <a:r>
              <a:rPr lang="fr-FR" dirty="0"/>
              <a:t>-start"&gt;</a:t>
            </a:r>
            <a:endParaRPr lang="fr-FR" dirty="0"/>
          </a:p>
          <a:p>
            <a:pPr>
              <a:defRPr sz="1600">
                <a:solidFill>
                  <a:srgbClr val="B4FFB4"/>
                </a:solidFill>
                <a:latin typeface="Courier New" panose="02070309020205020404"/>
              </a:defRPr>
            </a:pPr>
            <a:r>
              <a:rPr lang="fr-FR" dirty="0"/>
              <a:t>      &lt;a class="</a:t>
            </a:r>
            <a:r>
              <a:rPr lang="fr-FR" dirty="0" err="1"/>
              <a:t>navbar</a:t>
            </a:r>
            <a:r>
              <a:rPr lang="fr-FR" dirty="0"/>
              <a:t>-item"&gt;Accueil&lt;/a&gt;</a:t>
            </a:r>
            <a:endParaRPr lang="fr-FR" dirty="0"/>
          </a:p>
          <a:p>
            <a:pPr>
              <a:defRPr sz="1600">
                <a:solidFill>
                  <a:srgbClr val="B4FFB4"/>
                </a:solidFill>
                <a:latin typeface="Courier New" panose="02070309020205020404"/>
              </a:defRPr>
            </a:pPr>
            <a:r>
              <a:rPr lang="fr-FR" dirty="0"/>
              <a:t>      &lt;a class="</a:t>
            </a:r>
            <a:r>
              <a:rPr lang="fr-FR" dirty="0" err="1"/>
              <a:t>navbar</a:t>
            </a:r>
            <a:r>
              <a:rPr lang="fr-FR" dirty="0"/>
              <a:t>-item"&gt;Contact&lt;/a&gt;</a:t>
            </a:r>
            <a:endParaRPr lang="fr-FR" dirty="0"/>
          </a:p>
          <a:p>
            <a:pPr>
              <a:defRPr sz="1600">
                <a:solidFill>
                  <a:srgbClr val="B4FFB4"/>
                </a:solidFill>
                <a:latin typeface="Courier New" panose="02070309020205020404"/>
              </a:defRPr>
            </a:pPr>
            <a:r>
              <a:rPr lang="fr-FR" dirty="0"/>
              <a:t>    &lt;/div&gt;</a:t>
            </a:r>
            <a:endParaRPr lang="fr-FR" dirty="0"/>
          </a:p>
          <a:p>
            <a:pPr>
              <a:defRPr sz="1600">
                <a:solidFill>
                  <a:srgbClr val="B4FFB4"/>
                </a:solidFill>
                <a:latin typeface="Courier New" panose="02070309020205020404"/>
              </a:defRPr>
            </a:pPr>
            <a:r>
              <a:rPr lang="fr-FR" dirty="0"/>
              <a:t>  &lt;/div&gt;</a:t>
            </a:r>
            <a:endParaRPr lang="fr-FR" dirty="0"/>
          </a:p>
          <a:p>
            <a:pPr>
              <a:defRPr sz="1600">
                <a:solidFill>
                  <a:srgbClr val="B4FFB4"/>
                </a:solidFill>
                <a:latin typeface="Courier New" panose="02070309020205020404"/>
              </a:defRPr>
            </a:pPr>
            <a:r>
              <a:rPr lang="fr-FR" dirty="0"/>
              <a:t>&lt;/</a:t>
            </a:r>
            <a:r>
              <a:rPr lang="fr-FR" dirty="0" err="1"/>
              <a:t>nav</a:t>
            </a:r>
            <a:r>
              <a:rPr lang="fr-FR" dirty="0"/>
              <a:t>&gt;</a:t>
            </a:r>
            <a:endParaRPr lang="fr-FR" dirty="0"/>
          </a:p>
          <a:p>
            <a:pPr>
              <a:defRPr sz="1800">
                <a:solidFill>
                  <a:srgbClr val="DCDCDC"/>
                </a:solidFill>
              </a:defRPr>
            </a:pP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4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114576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B4FF"/>
                </a:solidFill>
              </a:defRPr>
            </a:pPr>
            <a:r>
              <a:rPr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Script JS - Navbar Burger</a:t>
            </a:r>
            <a:endParaRPr lang="fr-FR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2110869"/>
            <a:ext cx="7772400" cy="36009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fr-FR" sz="3200" dirty="0">
                <a:latin typeface="Agency FB" panose="020B0503020202020204" pitchFamily="34" charset="0"/>
              </a:rPr>
              <a:t>Script pour activer le menu burger mobile :</a:t>
            </a:r>
            <a:endParaRPr lang="fr-FR" sz="3200" dirty="0">
              <a:latin typeface="Agency FB" panose="020B0503020202020204" pitchFamily="34" charset="0"/>
            </a:endParaRPr>
          </a:p>
          <a:p>
            <a:endParaRPr lang="fr-FR" dirty="0"/>
          </a:p>
          <a:p>
            <a:pPr>
              <a:defRPr sz="1600">
                <a:solidFill>
                  <a:srgbClr val="B4FFB4"/>
                </a:solidFill>
                <a:latin typeface="Courier New" panose="02070309020205020404"/>
              </a:defRPr>
            </a:pPr>
            <a:r>
              <a:rPr lang="fr-FR" dirty="0" err="1"/>
              <a:t>document.addEventListener</a:t>
            </a:r>
            <a:r>
              <a:rPr lang="fr-FR" dirty="0"/>
              <a:t>('</a:t>
            </a:r>
            <a:r>
              <a:rPr lang="fr-FR" dirty="0" err="1"/>
              <a:t>DOMContentLoaded</a:t>
            </a:r>
            <a:r>
              <a:rPr lang="fr-FR" dirty="0"/>
              <a:t>', () =&gt; {</a:t>
            </a:r>
            <a:endParaRPr lang="fr-FR" dirty="0"/>
          </a:p>
          <a:p>
            <a:pPr>
              <a:defRPr sz="1600">
                <a:solidFill>
                  <a:srgbClr val="B4FFB4"/>
                </a:solidFill>
                <a:latin typeface="Courier New" panose="02070309020205020404"/>
              </a:defRPr>
            </a:pPr>
            <a:r>
              <a:rPr lang="fr-FR" dirty="0"/>
              <a:t> </a:t>
            </a:r>
            <a:r>
              <a:rPr lang="fr-FR" dirty="0" err="1"/>
              <a:t>const</a:t>
            </a:r>
            <a:r>
              <a:rPr lang="fr-FR" dirty="0"/>
              <a:t> burgers = </a:t>
            </a:r>
            <a:r>
              <a:rPr lang="fr-FR" dirty="0" err="1"/>
              <a:t>document.querySelectorAll</a:t>
            </a:r>
            <a:r>
              <a:rPr lang="fr-FR" dirty="0"/>
              <a:t>('.</a:t>
            </a:r>
            <a:r>
              <a:rPr lang="fr-FR" dirty="0" err="1"/>
              <a:t>navbar</a:t>
            </a:r>
            <a:r>
              <a:rPr lang="fr-FR" dirty="0"/>
              <a:t>-burger');</a:t>
            </a:r>
            <a:endParaRPr lang="fr-FR" dirty="0"/>
          </a:p>
          <a:p>
            <a:pPr>
              <a:defRPr sz="1600">
                <a:solidFill>
                  <a:srgbClr val="B4FFB4"/>
                </a:solidFill>
                <a:latin typeface="Courier New" panose="02070309020205020404"/>
              </a:defRPr>
            </a:pPr>
            <a:r>
              <a:rPr lang="fr-FR" dirty="0"/>
              <a:t> </a:t>
            </a:r>
            <a:r>
              <a:rPr lang="fr-FR" dirty="0" err="1"/>
              <a:t>burgers.forEach</a:t>
            </a:r>
            <a:r>
              <a:rPr lang="fr-FR" dirty="0"/>
              <a:t>(el =&gt; {</a:t>
            </a:r>
            <a:endParaRPr lang="fr-FR" dirty="0"/>
          </a:p>
          <a:p>
            <a:pPr>
              <a:defRPr sz="1600">
                <a:solidFill>
                  <a:srgbClr val="B4FFB4"/>
                </a:solidFill>
                <a:latin typeface="Courier New" panose="02070309020205020404"/>
              </a:defRPr>
            </a:pPr>
            <a:r>
              <a:rPr lang="fr-FR" dirty="0"/>
              <a:t>  </a:t>
            </a:r>
            <a:r>
              <a:rPr lang="fr-FR" dirty="0" err="1"/>
              <a:t>el.addEventListener</a:t>
            </a:r>
            <a:r>
              <a:rPr lang="fr-FR" dirty="0"/>
              <a:t>('click', () =&gt; {</a:t>
            </a:r>
            <a:endParaRPr lang="fr-FR" dirty="0"/>
          </a:p>
          <a:p>
            <a:pPr>
              <a:defRPr sz="1600">
                <a:solidFill>
                  <a:srgbClr val="B4FFB4"/>
                </a:solidFill>
                <a:latin typeface="Courier New" panose="02070309020205020404"/>
              </a:defRPr>
            </a:pPr>
            <a:r>
              <a:rPr lang="fr-FR" dirty="0"/>
              <a:t>   </a:t>
            </a:r>
            <a:r>
              <a:rPr lang="fr-FR" dirty="0" err="1"/>
              <a:t>el.classList.toggle</a:t>
            </a:r>
            <a:r>
              <a:rPr lang="fr-FR" dirty="0"/>
              <a:t>('</a:t>
            </a:r>
            <a:r>
              <a:rPr lang="fr-FR" dirty="0" err="1"/>
              <a:t>is</a:t>
            </a:r>
            <a:r>
              <a:rPr lang="fr-FR" dirty="0"/>
              <a:t>-active');</a:t>
            </a:r>
            <a:endParaRPr lang="fr-FR" dirty="0"/>
          </a:p>
          <a:p>
            <a:pPr>
              <a:defRPr sz="1600">
                <a:solidFill>
                  <a:srgbClr val="B4FFB4"/>
                </a:solidFill>
                <a:latin typeface="Courier New" panose="02070309020205020404"/>
              </a:defRPr>
            </a:pPr>
            <a:r>
              <a:rPr lang="fr-FR" dirty="0"/>
              <a:t>   </a:t>
            </a:r>
            <a:r>
              <a:rPr lang="fr-FR" dirty="0" err="1"/>
              <a:t>document.getElementById</a:t>
            </a:r>
            <a:r>
              <a:rPr lang="fr-FR" dirty="0"/>
              <a:t>('</a:t>
            </a:r>
            <a:r>
              <a:rPr lang="fr-FR" dirty="0" err="1"/>
              <a:t>navbarMenu</a:t>
            </a:r>
            <a:r>
              <a:rPr lang="fr-FR" dirty="0"/>
              <a:t>')</a:t>
            </a:r>
            <a:endParaRPr lang="fr-FR" dirty="0"/>
          </a:p>
          <a:p>
            <a:pPr>
              <a:defRPr sz="1600">
                <a:solidFill>
                  <a:srgbClr val="B4FFB4"/>
                </a:solidFill>
                <a:latin typeface="Courier New" panose="02070309020205020404"/>
              </a:defRPr>
            </a:pPr>
            <a:r>
              <a:rPr lang="fr-FR" dirty="0"/>
              <a:t>     .</a:t>
            </a:r>
            <a:r>
              <a:rPr lang="fr-FR" dirty="0" err="1"/>
              <a:t>classList.toggle</a:t>
            </a:r>
            <a:r>
              <a:rPr lang="fr-FR" dirty="0"/>
              <a:t>('</a:t>
            </a:r>
            <a:r>
              <a:rPr lang="fr-FR" dirty="0" err="1"/>
              <a:t>is</a:t>
            </a:r>
            <a:r>
              <a:rPr lang="fr-FR" dirty="0"/>
              <a:t>-active');</a:t>
            </a:r>
            <a:endParaRPr lang="fr-FR" dirty="0"/>
          </a:p>
          <a:p>
            <a:pPr>
              <a:defRPr sz="1600">
                <a:solidFill>
                  <a:srgbClr val="B4FFB4"/>
                </a:solidFill>
                <a:latin typeface="Courier New" panose="02070309020205020404"/>
              </a:defRPr>
            </a:pPr>
            <a:r>
              <a:rPr lang="fr-FR" dirty="0"/>
              <a:t>  });</a:t>
            </a:r>
            <a:endParaRPr lang="fr-FR" dirty="0"/>
          </a:p>
          <a:p>
            <a:pPr>
              <a:defRPr sz="1600">
                <a:solidFill>
                  <a:srgbClr val="B4FFB4"/>
                </a:solidFill>
                <a:latin typeface="Courier New" panose="02070309020205020404"/>
              </a:defRPr>
            </a:pPr>
            <a:r>
              <a:rPr lang="fr-FR" dirty="0"/>
              <a:t> });</a:t>
            </a:r>
            <a:endParaRPr lang="fr-FR" dirty="0"/>
          </a:p>
          <a:p>
            <a:pPr>
              <a:defRPr sz="1600">
                <a:solidFill>
                  <a:srgbClr val="B4FFB4"/>
                </a:solidFill>
                <a:latin typeface="Courier New" panose="02070309020205020404"/>
              </a:defRPr>
            </a:pPr>
            <a:r>
              <a:rPr lang="fr-FR" dirty="0"/>
              <a:t>});</a:t>
            </a:r>
            <a:endParaRPr lang="fr-FR" dirty="0"/>
          </a:p>
          <a:p>
            <a:pPr>
              <a:defRPr sz="1800">
                <a:solidFill>
                  <a:srgbClr val="DCDCDC"/>
                </a:solidFill>
              </a:defRPr>
            </a:pP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4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5557932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B4FF"/>
                </a:solidFill>
              </a:defRPr>
            </a:pPr>
            <a:r>
              <a:rPr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Flexbox dans </a:t>
            </a:r>
            <a:r>
              <a:rPr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Bulma</a:t>
            </a:r>
            <a:endParaRPr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235710"/>
            <a:ext cx="7772400" cy="53955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endParaRPr dirty="0"/>
          </a:p>
          <a:p>
            <a:pPr>
              <a:defRPr sz="1800">
                <a:solidFill>
                  <a:srgbClr val="DCDCDC"/>
                </a:solidFill>
              </a:defRPr>
            </a:pPr>
            <a:r>
              <a:rPr sz="3200" dirty="0" err="1">
                <a:latin typeface="Agency FB" panose="020B0503020202020204" pitchFamily="34" charset="0"/>
              </a:rPr>
              <a:t>Bulma</a:t>
            </a:r>
            <a:r>
              <a:rPr sz="3200" dirty="0">
                <a:latin typeface="Agency FB" panose="020B0503020202020204" pitchFamily="34" charset="0"/>
              </a:rPr>
              <a:t> </a:t>
            </a:r>
            <a:r>
              <a:rPr sz="3200" dirty="0" err="1">
                <a:latin typeface="Agency FB" panose="020B0503020202020204" pitchFamily="34" charset="0"/>
              </a:rPr>
              <a:t>est</a:t>
            </a:r>
            <a:r>
              <a:rPr sz="3200" dirty="0">
                <a:latin typeface="Agency FB" panose="020B0503020202020204" pitchFamily="34" charset="0"/>
              </a:rPr>
              <a:t> </a:t>
            </a:r>
            <a:r>
              <a:rPr sz="3200" dirty="0" err="1">
                <a:latin typeface="Agency FB" panose="020B0503020202020204" pitchFamily="34" charset="0"/>
              </a:rPr>
              <a:t>entièrement</a:t>
            </a:r>
            <a:r>
              <a:rPr sz="3200" dirty="0">
                <a:latin typeface="Agency FB" panose="020B0503020202020204" pitchFamily="34" charset="0"/>
              </a:rPr>
              <a:t> </a:t>
            </a:r>
            <a:r>
              <a:rPr sz="3200" dirty="0" err="1">
                <a:latin typeface="Agency FB" panose="020B0503020202020204" pitchFamily="34" charset="0"/>
              </a:rPr>
              <a:t>basé</a:t>
            </a:r>
            <a:r>
              <a:rPr sz="3200" dirty="0">
                <a:latin typeface="Agency FB" panose="020B0503020202020204" pitchFamily="34" charset="0"/>
              </a:rPr>
              <a:t> sur Flexbox.</a:t>
            </a:r>
            <a:endParaRPr sz="3200" dirty="0">
              <a:latin typeface="Agency FB" panose="020B0503020202020204" pitchFamily="34" charset="0"/>
            </a:endParaRPr>
          </a:p>
          <a:p>
            <a:pPr>
              <a:defRPr sz="1800">
                <a:solidFill>
                  <a:srgbClr val="DCDCDC"/>
                </a:solidFill>
              </a:defRPr>
            </a:pPr>
            <a:endParaRPr lang="fr-FR" sz="2400" dirty="0">
              <a:latin typeface="Agency FB" panose="020B0503020202020204" pitchFamily="34" charset="0"/>
            </a:endParaRPr>
          </a:p>
          <a:p>
            <a:pPr>
              <a:defRPr sz="1800">
                <a:solidFill>
                  <a:srgbClr val="DCDCDC"/>
                </a:solidFill>
              </a:defRPr>
            </a:pPr>
            <a:r>
              <a:rPr sz="3200" dirty="0" err="1">
                <a:latin typeface="Agency FB" panose="020B0503020202020204" pitchFamily="34" charset="0"/>
              </a:rPr>
              <a:t>Organisation</a:t>
            </a:r>
            <a:r>
              <a:rPr sz="3200" dirty="0">
                <a:latin typeface="Agency FB" panose="020B0503020202020204" pitchFamily="34" charset="0"/>
              </a:rPr>
              <a:t> </a:t>
            </a:r>
            <a:r>
              <a:rPr sz="3200" dirty="0" err="1">
                <a:latin typeface="Agency FB" panose="020B0503020202020204" pitchFamily="34" charset="0"/>
              </a:rPr>
              <a:t>fluide</a:t>
            </a:r>
            <a:r>
              <a:rPr sz="3200" dirty="0">
                <a:latin typeface="Agency FB" panose="020B0503020202020204" pitchFamily="34" charset="0"/>
              </a:rPr>
              <a:t> via :</a:t>
            </a:r>
            <a:endParaRPr sz="3200" dirty="0">
              <a:latin typeface="Agency FB" panose="020B0503020202020204" pitchFamily="34" charset="0"/>
            </a:endParaRPr>
          </a:p>
          <a:p>
            <a:pPr>
              <a:defRPr sz="1600">
                <a:solidFill>
                  <a:srgbClr val="B4FFB4"/>
                </a:solidFill>
                <a:latin typeface="Courier New" panose="02070309020205020404"/>
              </a:defRPr>
            </a:pPr>
            <a:endParaRPr lang="en-US" sz="2000" dirty="0"/>
          </a:p>
          <a:p>
            <a:pPr>
              <a:defRPr sz="1600">
                <a:solidFill>
                  <a:srgbClr val="B4FFB4"/>
                </a:solidFill>
                <a:latin typeface="Courier New" panose="02070309020205020404"/>
              </a:defRPr>
            </a:pPr>
            <a:r>
              <a:rPr lang="en-US" sz="2000" dirty="0"/>
              <a:t>&lt;div class="columns"&gt;</a:t>
            </a:r>
            <a:endParaRPr lang="en-US" sz="2000" dirty="0"/>
          </a:p>
          <a:p>
            <a:pPr>
              <a:defRPr sz="1600">
                <a:solidFill>
                  <a:srgbClr val="B4FFB4"/>
                </a:solidFill>
                <a:latin typeface="Courier New" panose="02070309020205020404"/>
              </a:defRPr>
            </a:pPr>
            <a:r>
              <a:rPr lang="en-US" sz="2000" dirty="0"/>
              <a:t>  &lt;div class="column</a:t>
            </a:r>
            <a:r>
              <a:rPr lang="fr-FR" altLang="en-US" sz="2000" dirty="0"/>
              <a:t> is-two-thirds</a:t>
            </a:r>
            <a:r>
              <a:rPr lang="en-US" sz="2000" dirty="0"/>
              <a:t>"&gt;</a:t>
            </a:r>
            <a:r>
              <a:rPr lang="en-US" sz="2000" dirty="0" err="1"/>
              <a:t>Colonne</a:t>
            </a:r>
            <a:r>
              <a:rPr lang="en-US" sz="2000" dirty="0"/>
              <a:t> 1&lt;/div&gt;</a:t>
            </a:r>
            <a:endParaRPr lang="en-US" sz="2000" dirty="0"/>
          </a:p>
          <a:p>
            <a:pPr>
              <a:defRPr sz="1600">
                <a:solidFill>
                  <a:srgbClr val="B4FFB4"/>
                </a:solidFill>
                <a:latin typeface="Courier New" panose="02070309020205020404"/>
              </a:defRPr>
            </a:pPr>
            <a:r>
              <a:rPr lang="en-US" sz="2000" dirty="0"/>
              <a:t>  &lt;div class="column</a:t>
            </a:r>
            <a:r>
              <a:rPr lang="fr-FR" altLang="en-US" sz="2000" dirty="0"/>
              <a:t> is-full</a:t>
            </a:r>
            <a:r>
              <a:rPr lang="en-US" sz="2000" dirty="0"/>
              <a:t>"&gt;</a:t>
            </a:r>
            <a:r>
              <a:rPr lang="en-US" sz="2000" dirty="0" err="1"/>
              <a:t>Colonne</a:t>
            </a:r>
            <a:r>
              <a:rPr lang="en-US" sz="2000" dirty="0"/>
              <a:t> 2&lt;/div&gt;</a:t>
            </a:r>
            <a:endParaRPr lang="en-US" sz="2000" dirty="0"/>
          </a:p>
          <a:p>
            <a:pPr>
              <a:defRPr sz="1600">
                <a:solidFill>
                  <a:srgbClr val="B4FFB4"/>
                </a:solidFill>
                <a:latin typeface="Courier New" panose="02070309020205020404"/>
              </a:defRPr>
            </a:pPr>
            <a:r>
              <a:rPr lang="en-US" sz="2000" dirty="0"/>
              <a:t>  &lt;div class="column</a:t>
            </a:r>
            <a:r>
              <a:rPr lang="fr-FR" altLang="en-US" sz="2000" dirty="0"/>
              <a:t> has-text-centered</a:t>
            </a:r>
            <a:r>
              <a:rPr lang="en-US" sz="2000" dirty="0"/>
              <a:t>"&gt;</a:t>
            </a:r>
            <a:r>
              <a:rPr lang="en-US" sz="2000" dirty="0" err="1"/>
              <a:t>Colonne</a:t>
            </a:r>
            <a:r>
              <a:rPr lang="en-US" sz="2000" dirty="0"/>
              <a:t> 3&lt;/div&gt;</a:t>
            </a:r>
            <a:endParaRPr lang="en-US" sz="2000" dirty="0"/>
          </a:p>
          <a:p>
            <a:pPr>
              <a:defRPr sz="1600">
                <a:solidFill>
                  <a:srgbClr val="B4FFB4"/>
                </a:solidFill>
                <a:latin typeface="Courier New" panose="02070309020205020404"/>
              </a:defRPr>
            </a:pPr>
            <a:r>
              <a:rPr lang="en-US" sz="2000" dirty="0"/>
              <a:t>&lt;/div&gt;</a:t>
            </a:r>
            <a:endParaRPr lang="en-US" sz="2000" dirty="0"/>
          </a:p>
          <a:p>
            <a:pPr>
              <a:defRPr sz="1800">
                <a:solidFill>
                  <a:srgbClr val="DCDCDC"/>
                </a:solidFill>
              </a:defRPr>
            </a:pPr>
            <a:endParaRPr lang="fr-FR" sz="2400" dirty="0"/>
          </a:p>
          <a:p>
            <a:pPr>
              <a:defRPr sz="1800">
                <a:solidFill>
                  <a:srgbClr val="DCDCDC"/>
                </a:solidFill>
              </a:defRPr>
            </a:pPr>
            <a:r>
              <a:rPr lang="fr-FR" sz="3200" dirty="0">
                <a:latin typeface="Agency FB" panose="020B0503020202020204" pitchFamily="34" charset="0"/>
              </a:rPr>
              <a:t>Alignement facile et responsive.</a:t>
            </a:r>
            <a:endParaRPr lang="fr-FR" sz="3200" dirty="0">
              <a:latin typeface="Agency FB" panose="020B0503020202020204" pitchFamily="34" charset="0"/>
            </a:endParaRPr>
          </a:p>
          <a:p>
            <a:pPr>
              <a:defRPr sz="1800">
                <a:solidFill>
                  <a:srgbClr val="DCDCDC"/>
                </a:solidFill>
              </a:defRPr>
            </a:pPr>
            <a:r>
              <a:rPr sz="3200" dirty="0" err="1">
                <a:latin typeface="Agency FB" panose="020B0503020202020204" pitchFamily="34" charset="0"/>
              </a:rPr>
              <a:t>Avantage</a:t>
            </a:r>
            <a:r>
              <a:rPr sz="3200" dirty="0">
                <a:latin typeface="Agency FB" panose="020B0503020202020204" pitchFamily="34" charset="0"/>
              </a:rPr>
              <a:t> : </a:t>
            </a:r>
            <a:r>
              <a:rPr sz="3200" dirty="0" err="1">
                <a:latin typeface="Agency FB" panose="020B0503020202020204" pitchFamily="34" charset="0"/>
              </a:rPr>
              <a:t>adaptabilité</a:t>
            </a:r>
            <a:r>
              <a:rPr sz="3200" dirty="0">
                <a:latin typeface="Agency FB" panose="020B0503020202020204" pitchFamily="34" charset="0"/>
              </a:rPr>
              <a:t> </a:t>
            </a:r>
            <a:r>
              <a:rPr sz="3200" dirty="0" err="1">
                <a:latin typeface="Agency FB" panose="020B0503020202020204" pitchFamily="34" charset="0"/>
              </a:rPr>
              <a:t>automatique</a:t>
            </a:r>
            <a:r>
              <a:rPr sz="3200" dirty="0">
                <a:latin typeface="Agency FB" panose="020B0503020202020204" pitchFamily="34" charset="0"/>
              </a:rPr>
              <a:t>.</a:t>
            </a:r>
            <a:endParaRPr sz="3200" dirty="0">
              <a:latin typeface="Agency FB" panose="020B0503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4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9430" y="36830"/>
            <a:ext cx="6403975" cy="8299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B4FF"/>
                </a:solidFill>
              </a:defRPr>
            </a:pPr>
            <a:r>
              <a:rPr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fr-FR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ormulaire</a:t>
            </a:r>
            <a:r>
              <a:rPr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dans </a:t>
            </a:r>
            <a:r>
              <a:rPr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Bulma</a:t>
            </a:r>
            <a:endParaRPr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one de texte 4"/>
          <p:cNvSpPr txBox="1"/>
          <p:nvPr/>
        </p:nvSpPr>
        <p:spPr>
          <a:xfrm>
            <a:off x="386715" y="1161415"/>
            <a:ext cx="8105140" cy="48634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p>
            <a:r>
              <a:rPr lang="en-US" altLang="fr-FR" sz="2400">
                <a:solidFill>
                  <a:srgbClr val="92D050"/>
                </a:solidFill>
              </a:rPr>
              <a:t>&lt;div class="field"&gt;</a:t>
            </a:r>
            <a:endParaRPr lang="en-US" altLang="fr-FR" sz="2400">
              <a:solidFill>
                <a:srgbClr val="92D050"/>
              </a:solidFill>
            </a:endParaRPr>
          </a:p>
          <a:p>
            <a:r>
              <a:rPr lang="en-US" altLang="fr-FR" sz="2400">
                <a:solidFill>
                  <a:srgbClr val="92D050"/>
                </a:solidFill>
              </a:rPr>
              <a:t>  &lt;label class="label"&gt;Name&lt;/label&gt;</a:t>
            </a:r>
            <a:endParaRPr lang="en-US" altLang="fr-FR" sz="2400">
              <a:solidFill>
                <a:srgbClr val="92D050"/>
              </a:solidFill>
            </a:endParaRPr>
          </a:p>
          <a:p>
            <a:r>
              <a:rPr lang="en-US" altLang="fr-FR" sz="2400">
                <a:solidFill>
                  <a:srgbClr val="92D050"/>
                </a:solidFill>
              </a:rPr>
              <a:t>  &lt;div class="control"&gt;</a:t>
            </a:r>
            <a:endParaRPr lang="en-US" altLang="fr-FR" sz="2400">
              <a:solidFill>
                <a:srgbClr val="92D050"/>
              </a:solidFill>
            </a:endParaRPr>
          </a:p>
          <a:p>
            <a:r>
              <a:rPr lang="en-US" altLang="fr-FR" sz="2400">
                <a:solidFill>
                  <a:srgbClr val="92D050"/>
                </a:solidFill>
              </a:rPr>
              <a:t>    &lt;input class="input" type="text" placeholder="Text input"&gt;</a:t>
            </a:r>
            <a:endParaRPr lang="en-US" altLang="fr-FR" sz="2400">
              <a:solidFill>
                <a:srgbClr val="92D050"/>
              </a:solidFill>
            </a:endParaRPr>
          </a:p>
          <a:p>
            <a:r>
              <a:rPr lang="en-US" altLang="fr-FR" sz="2400">
                <a:solidFill>
                  <a:srgbClr val="92D050"/>
                </a:solidFill>
              </a:rPr>
              <a:t>  &lt;/div&gt;</a:t>
            </a:r>
            <a:endParaRPr lang="en-US" altLang="fr-FR" sz="2400">
              <a:solidFill>
                <a:srgbClr val="92D050"/>
              </a:solidFill>
            </a:endParaRPr>
          </a:p>
          <a:p>
            <a:r>
              <a:rPr lang="en-US" altLang="fr-FR" sz="2400">
                <a:solidFill>
                  <a:srgbClr val="92D050"/>
                </a:solidFill>
              </a:rPr>
              <a:t>&lt;/div&gt;</a:t>
            </a:r>
            <a:endParaRPr lang="en-US" altLang="fr-FR" sz="2400">
              <a:solidFill>
                <a:srgbClr val="92D050"/>
              </a:solidFill>
            </a:endParaRPr>
          </a:p>
          <a:p>
            <a:r>
              <a:rPr lang="en-US" altLang="fr-FR" sz="2400">
                <a:solidFill>
                  <a:srgbClr val="92D050"/>
                </a:solidFill>
              </a:rPr>
              <a:t>&lt;div class="field is-grouped"&gt;</a:t>
            </a:r>
            <a:endParaRPr lang="en-US" altLang="fr-FR" sz="2400">
              <a:solidFill>
                <a:srgbClr val="92D050"/>
              </a:solidFill>
            </a:endParaRPr>
          </a:p>
          <a:p>
            <a:r>
              <a:rPr lang="en-US" altLang="fr-FR" sz="2400">
                <a:solidFill>
                  <a:srgbClr val="92D050"/>
                </a:solidFill>
              </a:rPr>
              <a:t>  &lt;div class="control"&gt;</a:t>
            </a:r>
            <a:endParaRPr lang="en-US" altLang="fr-FR" sz="2400">
              <a:solidFill>
                <a:srgbClr val="92D050"/>
              </a:solidFill>
            </a:endParaRPr>
          </a:p>
          <a:p>
            <a:r>
              <a:rPr lang="en-US" altLang="fr-FR" sz="2400">
                <a:solidFill>
                  <a:srgbClr val="92D050"/>
                </a:solidFill>
              </a:rPr>
              <a:t>    &lt;button class="button is-link"&gt;Submit&lt;/button&gt;</a:t>
            </a:r>
            <a:endParaRPr lang="en-US" altLang="fr-FR" sz="2400">
              <a:solidFill>
                <a:srgbClr val="92D050"/>
              </a:solidFill>
            </a:endParaRPr>
          </a:p>
          <a:p>
            <a:r>
              <a:rPr lang="en-US" altLang="fr-FR" sz="2400">
                <a:solidFill>
                  <a:srgbClr val="92D050"/>
                </a:solidFill>
              </a:rPr>
              <a:t>  &lt;/div&gt;</a:t>
            </a:r>
            <a:endParaRPr lang="en-US" altLang="fr-FR" sz="2400">
              <a:solidFill>
                <a:srgbClr val="92D050"/>
              </a:solidFill>
            </a:endParaRPr>
          </a:p>
          <a:p>
            <a:r>
              <a:rPr lang="en-US" altLang="fr-FR" sz="2400">
                <a:solidFill>
                  <a:srgbClr val="92D050"/>
                </a:solidFill>
              </a:rPr>
              <a:t>  &lt;div class="control"&gt;</a:t>
            </a:r>
            <a:endParaRPr lang="en-US" altLang="fr-FR" sz="2400">
              <a:solidFill>
                <a:srgbClr val="92D050"/>
              </a:solidFill>
            </a:endParaRPr>
          </a:p>
          <a:p>
            <a:r>
              <a:rPr lang="en-US" altLang="fr-FR" sz="2400">
                <a:solidFill>
                  <a:srgbClr val="92D050"/>
                </a:solidFill>
              </a:rPr>
              <a:t>    &lt;button class="button is-link is-light"&gt;Cancel&lt;/button&gt;</a:t>
            </a:r>
            <a:endParaRPr lang="en-US" altLang="fr-FR" sz="2400">
              <a:solidFill>
                <a:srgbClr val="92D050"/>
              </a:solidFill>
            </a:endParaRPr>
          </a:p>
          <a:p>
            <a:r>
              <a:rPr lang="en-US" altLang="fr-FR" sz="2400">
                <a:solidFill>
                  <a:srgbClr val="92D050"/>
                </a:solidFill>
              </a:rPr>
              <a:t>  &lt;/div&gt;</a:t>
            </a:r>
            <a:endParaRPr lang="en-US" altLang="fr-FR" sz="2400">
              <a:solidFill>
                <a:srgbClr val="92D050"/>
              </a:solidFill>
            </a:endParaRPr>
          </a:p>
          <a:p>
            <a:r>
              <a:rPr lang="en-US" altLang="fr-FR" sz="2400">
                <a:solidFill>
                  <a:srgbClr val="92D050"/>
                </a:solidFill>
              </a:rPr>
              <a:t>&lt;/div&gt;</a:t>
            </a:r>
            <a:endParaRPr lang="en-US" altLang="fr-FR" sz="2400">
              <a:solidFill>
                <a:srgbClr val="92D05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4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099"/>
            <a:ext cx="3815596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B4FF"/>
                </a:solidFill>
              </a:defRPr>
            </a:pPr>
            <a:r>
              <a:rPr sz="4800">
                <a:latin typeface="Times New Roman" panose="02020603050405020304" pitchFamily="18" charset="0"/>
                <a:cs typeface="Times New Roman" panose="02020603050405020304" pitchFamily="18" charset="0"/>
              </a:rPr>
              <a:t>Footer Bulma</a:t>
            </a:r>
            <a:endParaRPr sz="4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490345"/>
            <a:ext cx="7772400" cy="33915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endParaRPr dirty="0"/>
          </a:p>
          <a:p>
            <a:pPr>
              <a:defRPr sz="1800">
                <a:solidFill>
                  <a:srgbClr val="DCDCDC"/>
                </a:solidFill>
              </a:defRPr>
            </a:pPr>
            <a:r>
              <a:rPr lang="fr-FR" sz="2400" dirty="0">
                <a:latin typeface="Agency FB" panose="020B0503020202020204" pitchFamily="34" charset="0"/>
              </a:rPr>
              <a:t>Structure simple </a:t>
            </a:r>
            <a:r>
              <a:rPr sz="2400" dirty="0">
                <a:latin typeface="Agency FB" panose="020B0503020202020204" pitchFamily="34" charset="0"/>
              </a:rPr>
              <a:t>:</a:t>
            </a:r>
            <a:endParaRPr sz="2400" dirty="0">
              <a:latin typeface="Agency FB" panose="020B0503020202020204" pitchFamily="34" charset="0"/>
            </a:endParaRPr>
          </a:p>
          <a:p>
            <a:pPr>
              <a:defRPr sz="1600">
                <a:solidFill>
                  <a:srgbClr val="B4FFB4"/>
                </a:solidFill>
                <a:latin typeface="Courier New" panose="02070309020205020404"/>
              </a:defRPr>
            </a:pPr>
            <a:endParaRPr lang="en-US" dirty="0"/>
          </a:p>
          <a:p>
            <a:pPr>
              <a:defRPr sz="1600">
                <a:solidFill>
                  <a:srgbClr val="B4FFB4"/>
                </a:solidFill>
                <a:latin typeface="Courier New" panose="02070309020205020404"/>
              </a:defRPr>
            </a:pPr>
            <a:r>
              <a:rPr lang="en-US" sz="2400" dirty="0"/>
              <a:t>&lt;footer class="footer"&gt;</a:t>
            </a:r>
            <a:endParaRPr lang="en-US" sz="2400" dirty="0"/>
          </a:p>
          <a:p>
            <a:pPr>
              <a:defRPr sz="1600">
                <a:solidFill>
                  <a:srgbClr val="B4FFB4"/>
                </a:solidFill>
                <a:latin typeface="Courier New" panose="02070309020205020404"/>
              </a:defRPr>
            </a:pPr>
            <a:r>
              <a:rPr lang="en-US" sz="2400" dirty="0"/>
              <a:t>  &lt;div class="content has-text-centered"&gt;</a:t>
            </a:r>
            <a:endParaRPr lang="en-US" sz="2400" dirty="0"/>
          </a:p>
          <a:p>
            <a:pPr>
              <a:defRPr sz="1600">
                <a:solidFill>
                  <a:srgbClr val="B4FFB4"/>
                </a:solidFill>
                <a:latin typeface="Courier New" panose="02070309020205020404"/>
              </a:defRPr>
            </a:pPr>
            <a:r>
              <a:rPr lang="en-US" sz="2400" dirty="0"/>
              <a:t>    &lt;p&gt;© 2025 - Mon site </a:t>
            </a:r>
            <a:r>
              <a:rPr lang="en-US" sz="2400" dirty="0" err="1"/>
              <a:t>Bulma</a:t>
            </a:r>
            <a:r>
              <a:rPr lang="en-US" sz="2400" dirty="0"/>
              <a:t>&lt;/p&gt;</a:t>
            </a:r>
            <a:endParaRPr lang="en-US" sz="2400" dirty="0"/>
          </a:p>
          <a:p>
            <a:pPr>
              <a:defRPr sz="1600">
                <a:solidFill>
                  <a:srgbClr val="B4FFB4"/>
                </a:solidFill>
                <a:latin typeface="Courier New" panose="02070309020205020404"/>
              </a:defRPr>
            </a:pPr>
            <a:r>
              <a:rPr lang="en-US" sz="2400" dirty="0"/>
              <a:t>  &lt;/div&gt;</a:t>
            </a:r>
            <a:endParaRPr lang="en-US" sz="2400" dirty="0"/>
          </a:p>
          <a:p>
            <a:pPr>
              <a:defRPr sz="1600">
                <a:solidFill>
                  <a:srgbClr val="B4FFB4"/>
                </a:solidFill>
                <a:latin typeface="Courier New" panose="02070309020205020404"/>
              </a:defRPr>
            </a:pPr>
            <a:r>
              <a:rPr lang="en-US" sz="2400" dirty="0"/>
              <a:t>&lt;/footer&gt;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46494"/>
            <a:ext cx="9144000" cy="6858000"/>
          </a:xfrm>
          <a:prstGeom prst="rect">
            <a:avLst/>
          </a:prstGeom>
          <a:solidFill>
            <a:srgbClr val="1414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3127779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B4FF"/>
                </a:solidFill>
              </a:defRPr>
            </a:pPr>
            <a:r>
              <a:rPr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013733"/>
            <a:ext cx="7772400" cy="3538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dirty="0">
              <a:latin typeface="Agency FB" panose="020B0503020202020204" pitchFamily="34" charset="0"/>
            </a:endParaRPr>
          </a:p>
          <a:p>
            <a:pPr>
              <a:defRPr sz="1800">
                <a:solidFill>
                  <a:srgbClr val="DCDCDC"/>
                </a:solidFill>
              </a:defRPr>
            </a:pPr>
            <a:r>
              <a:rPr sz="3200" dirty="0" err="1">
                <a:latin typeface="Agency FB" panose="020B0503020202020204" pitchFamily="34" charset="0"/>
              </a:rPr>
              <a:t>Bulma</a:t>
            </a:r>
            <a:r>
              <a:rPr sz="3200" dirty="0">
                <a:latin typeface="Agency FB" panose="020B0503020202020204" pitchFamily="34" charset="0"/>
              </a:rPr>
              <a:t> </a:t>
            </a:r>
            <a:r>
              <a:rPr sz="3200" dirty="0" err="1">
                <a:latin typeface="Agency FB" panose="020B0503020202020204" pitchFamily="34" charset="0"/>
              </a:rPr>
              <a:t>est</a:t>
            </a:r>
            <a:r>
              <a:rPr sz="3200" dirty="0">
                <a:latin typeface="Agency FB" panose="020B0503020202020204" pitchFamily="34" charset="0"/>
              </a:rPr>
              <a:t> </a:t>
            </a:r>
            <a:r>
              <a:rPr sz="3200" dirty="0" err="1">
                <a:latin typeface="Agency FB" panose="020B0503020202020204" pitchFamily="34" charset="0"/>
              </a:rPr>
              <a:t>une</a:t>
            </a:r>
            <a:r>
              <a:rPr sz="3200" dirty="0">
                <a:latin typeface="Agency FB" panose="020B0503020202020204" pitchFamily="34" charset="0"/>
              </a:rPr>
              <a:t> solution </a:t>
            </a:r>
            <a:r>
              <a:rPr sz="3200" dirty="0" err="1">
                <a:latin typeface="Agency FB" panose="020B0503020202020204" pitchFamily="34" charset="0"/>
              </a:rPr>
              <a:t>idéale</a:t>
            </a:r>
            <a:r>
              <a:rPr sz="3200" dirty="0">
                <a:latin typeface="Agency FB" panose="020B0503020202020204" pitchFamily="34" charset="0"/>
              </a:rPr>
              <a:t> pour :</a:t>
            </a:r>
            <a:endParaRPr sz="3200" dirty="0">
              <a:latin typeface="Agency FB" panose="020B0503020202020204" pitchFamily="34" charset="0"/>
            </a:endParaRPr>
          </a:p>
          <a:p>
            <a:pPr>
              <a:defRPr sz="1800">
                <a:solidFill>
                  <a:srgbClr val="DCDCDC"/>
                </a:solidFill>
              </a:defRPr>
            </a:pPr>
            <a:r>
              <a:rPr sz="3200" dirty="0">
                <a:latin typeface="Agency FB" panose="020B0503020202020204" pitchFamily="34" charset="0"/>
              </a:rPr>
              <a:t>• </a:t>
            </a:r>
            <a:r>
              <a:rPr lang="fr-FR" sz="3200" dirty="0">
                <a:latin typeface="Agency FB" panose="020B0503020202020204" pitchFamily="34" charset="0"/>
              </a:rPr>
              <a:t>Les p</a:t>
            </a:r>
            <a:r>
              <a:rPr sz="3200" dirty="0" err="1">
                <a:latin typeface="Agency FB" panose="020B0503020202020204" pitchFamily="34" charset="0"/>
              </a:rPr>
              <a:t>rojets</a:t>
            </a:r>
            <a:r>
              <a:rPr sz="3200" dirty="0">
                <a:latin typeface="Agency FB" panose="020B0503020202020204" pitchFamily="34" charset="0"/>
              </a:rPr>
              <a:t> </a:t>
            </a:r>
            <a:r>
              <a:rPr sz="3200" dirty="0" err="1">
                <a:latin typeface="Agency FB" panose="020B0503020202020204" pitchFamily="34" charset="0"/>
              </a:rPr>
              <a:t>rapides</a:t>
            </a:r>
            <a:endParaRPr sz="3200" dirty="0">
              <a:latin typeface="Agency FB" panose="020B0503020202020204" pitchFamily="34" charset="0"/>
            </a:endParaRPr>
          </a:p>
          <a:p>
            <a:pPr>
              <a:defRPr sz="1800">
                <a:solidFill>
                  <a:srgbClr val="DCDCDC"/>
                </a:solidFill>
              </a:defRPr>
            </a:pPr>
            <a:r>
              <a:rPr sz="3200" dirty="0">
                <a:latin typeface="Agency FB" panose="020B0503020202020204" pitchFamily="34" charset="0"/>
              </a:rPr>
              <a:t>• </a:t>
            </a:r>
            <a:r>
              <a:rPr lang="fr-FR" sz="3200" dirty="0">
                <a:latin typeface="Agency FB" panose="020B0503020202020204" pitchFamily="34" charset="0"/>
              </a:rPr>
              <a:t>Les présentations professionnelles</a:t>
            </a:r>
            <a:endParaRPr sz="3200" dirty="0">
              <a:latin typeface="Agency FB" panose="020B0503020202020204" pitchFamily="34" charset="0"/>
            </a:endParaRPr>
          </a:p>
          <a:p>
            <a:pPr>
              <a:defRPr sz="1800">
                <a:solidFill>
                  <a:srgbClr val="DCDCDC"/>
                </a:solidFill>
              </a:defRPr>
            </a:pPr>
            <a:r>
              <a:rPr sz="3200" dirty="0">
                <a:latin typeface="Agency FB" panose="020B0503020202020204" pitchFamily="34" charset="0"/>
              </a:rPr>
              <a:t>• </a:t>
            </a:r>
            <a:r>
              <a:rPr lang="fr-FR" sz="3200" dirty="0">
                <a:latin typeface="Agency FB" panose="020B0503020202020204" pitchFamily="34" charset="0"/>
              </a:rPr>
              <a:t>Un design moderne</a:t>
            </a:r>
            <a:endParaRPr lang="fr-FR" sz="3200" dirty="0">
              <a:latin typeface="Agency FB" panose="020B0503020202020204" pitchFamily="34" charset="0"/>
            </a:endParaRPr>
          </a:p>
          <a:p>
            <a:pPr>
              <a:defRPr sz="1800">
                <a:solidFill>
                  <a:srgbClr val="DCDCDC"/>
                </a:solidFill>
              </a:defRPr>
            </a:pPr>
            <a:r>
              <a:rPr lang="fr-FR" sz="3200" dirty="0">
                <a:latin typeface="Agency FB" panose="020B0503020202020204" pitchFamily="34" charset="0"/>
              </a:rPr>
              <a:t>• Prototypage</a:t>
            </a:r>
            <a:endParaRPr lang="fr-FR" sz="3200" dirty="0">
              <a:latin typeface="Agency FB" panose="020B0503020202020204" pitchFamily="34" charset="0"/>
            </a:endParaRPr>
          </a:p>
          <a:p>
            <a:pPr>
              <a:defRPr sz="1800">
                <a:solidFill>
                  <a:srgbClr val="DCDCDC"/>
                </a:solidFill>
              </a:defRPr>
            </a:pPr>
            <a:endParaRPr sz="3200" dirty="0">
              <a:latin typeface="Agency FB" panose="020B0503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2783</Words>
  <Application>WPS Presentation</Application>
  <PresentationFormat>Affichage à l'écran (4:3)</PresentationFormat>
  <Paragraphs>127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SimSun</vt:lpstr>
      <vt:lpstr>Wingdings</vt:lpstr>
      <vt:lpstr>Arial</vt:lpstr>
      <vt:lpstr>Times New Roman</vt:lpstr>
      <vt:lpstr>Agency FB</vt:lpstr>
      <vt:lpstr>Courier New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/>
  <dc:description>generated using python-pptx</dc:description>
  <cp:lastModifiedBy>Mirado RAZAFIMANDIMBY</cp:lastModifiedBy>
  <cp:revision>14</cp:revision>
  <dcterms:created xsi:type="dcterms:W3CDTF">2013-01-27T09:14:00Z</dcterms:created>
  <dcterms:modified xsi:type="dcterms:W3CDTF">2025-12-02T18:06:43Z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08FCACD4708A4711B5767AB5343C6716_12</vt:lpwstr>
  </property>
  <property fmtid="{D5CDD505-2E9C-101B-9397-08002B2CF9AE}" pid="3" name="KSOProductBuildVer">
    <vt:lpwstr>1036-12.2.0.23155</vt:lpwstr>
  </property>
</Properties>
</file>